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093C6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093C6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093C6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093C6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71500" y="10763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9000" y="28575"/>
                </a:moveTo>
                <a:lnTo>
                  <a:pt x="0" y="28575"/>
                </a:lnTo>
                <a:lnTo>
                  <a:pt x="0" y="0"/>
                </a:lnTo>
                <a:lnTo>
                  <a:pt x="11049000" y="0"/>
                </a:lnTo>
                <a:lnTo>
                  <a:pt x="11049000" y="28575"/>
                </a:lnTo>
                <a:close/>
              </a:path>
            </a:pathLst>
          </a:custGeom>
          <a:solidFill>
            <a:srgbClr val="37A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31400"/>
            <a:ext cx="5883275" cy="492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093C6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2352675"/>
            <a:ext cx="11125200" cy="2319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44219" y="1633659"/>
            <a:ext cx="3884929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10" b="1">
                <a:solidFill>
                  <a:srgbClr val="37AFEC"/>
                </a:solidFill>
                <a:latin typeface="Arial"/>
                <a:cs typeface="Arial"/>
              </a:rPr>
              <a:t>DATA</a:t>
            </a:r>
            <a:r>
              <a:rPr dirty="0" sz="1800" spc="200" b="1">
                <a:solidFill>
                  <a:srgbClr val="37AFE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7AFEC"/>
                </a:solidFill>
                <a:latin typeface="Arial"/>
                <a:cs typeface="Arial"/>
              </a:rPr>
              <a:t>ANALYST</a:t>
            </a:r>
            <a:r>
              <a:rPr dirty="0" sz="1800" spc="210" b="1">
                <a:solidFill>
                  <a:srgbClr val="37AFE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7AFEC"/>
                </a:solidFill>
                <a:latin typeface="Arial"/>
                <a:cs typeface="Arial"/>
              </a:rPr>
              <a:t>CAPSTONE</a:t>
            </a:r>
            <a:r>
              <a:rPr dirty="0" sz="1800" spc="210" b="1">
                <a:solidFill>
                  <a:srgbClr val="37AFEC"/>
                </a:solidFill>
                <a:latin typeface="Arial"/>
                <a:cs typeface="Arial"/>
              </a:rPr>
              <a:t> </a:t>
            </a:r>
            <a:r>
              <a:rPr dirty="0" sz="1800" spc="145" b="1">
                <a:solidFill>
                  <a:srgbClr val="37AFEC"/>
                </a:solidFill>
                <a:latin typeface="Arial"/>
                <a:cs typeface="Arial"/>
              </a:rPr>
              <a:t>2026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8294" y="1973895"/>
            <a:ext cx="5295900" cy="1514475"/>
          </a:xfrm>
          <a:prstGeom prst="rect"/>
        </p:spPr>
        <p:txBody>
          <a:bodyPr wrap="square" lIns="0" tIns="116839" rIns="0" bIns="0" rtlCol="0" vert="horz">
            <a:spAutoFit/>
          </a:bodyPr>
          <a:lstStyle/>
          <a:p>
            <a:pPr marL="12700" marR="5080" indent="904240">
              <a:lnSpc>
                <a:spcPts val="5480"/>
              </a:lnSpc>
              <a:spcBef>
                <a:spcPts val="919"/>
              </a:spcBef>
            </a:pPr>
            <a:r>
              <a:rPr dirty="0" sz="5200" spc="-254"/>
              <a:t>Mutual</a:t>
            </a:r>
            <a:r>
              <a:rPr dirty="0" sz="5200" spc="-515"/>
              <a:t> </a:t>
            </a:r>
            <a:r>
              <a:rPr dirty="0" sz="5200" spc="-459"/>
              <a:t>Fund </a:t>
            </a:r>
            <a:r>
              <a:rPr dirty="0" sz="5200" spc="-290"/>
              <a:t>Analytics</a:t>
            </a:r>
            <a:r>
              <a:rPr dirty="0" sz="5200" spc="-525"/>
              <a:t> </a:t>
            </a:r>
            <a:r>
              <a:rPr dirty="0" sz="5200" spc="-140"/>
              <a:t>Platform</a:t>
            </a:r>
            <a:endParaRPr sz="5200"/>
          </a:p>
        </p:txBody>
      </p:sp>
      <p:sp>
        <p:nvSpPr>
          <p:cNvPr id="4" name="object 4" descr=""/>
          <p:cNvSpPr/>
          <p:nvPr/>
        </p:nvSpPr>
        <p:spPr>
          <a:xfrm>
            <a:off x="5619750" y="390525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500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00" y="0"/>
                </a:lnTo>
                <a:lnTo>
                  <a:pt x="952500" y="38100"/>
                </a:lnTo>
                <a:close/>
              </a:path>
            </a:pathLst>
          </a:custGeom>
          <a:solidFill>
            <a:srgbClr val="37A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693142" y="4164607"/>
            <a:ext cx="6805930" cy="10210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850" spc="-50">
                <a:solidFill>
                  <a:srgbClr val="093C61"/>
                </a:solidFill>
                <a:latin typeface="Microsoft Sans Serif"/>
                <a:cs typeface="Microsoft Sans Serif"/>
              </a:rPr>
              <a:t>End</a:t>
            </a:r>
            <a:r>
              <a:rPr dirty="0" sz="1900" spc="-50">
                <a:solidFill>
                  <a:srgbClr val="093C61"/>
                </a:solidFill>
                <a:latin typeface="Microsoft Sans Serif"/>
                <a:cs typeface="Microsoft Sans Serif"/>
              </a:rPr>
              <a:t>-</a:t>
            </a:r>
            <a:r>
              <a:rPr dirty="0" sz="1850">
                <a:solidFill>
                  <a:srgbClr val="093C61"/>
                </a:solidFill>
                <a:latin typeface="Microsoft Sans Serif"/>
                <a:cs typeface="Microsoft Sans Serif"/>
              </a:rPr>
              <a:t>to</a:t>
            </a:r>
            <a:r>
              <a:rPr dirty="0" sz="1900">
                <a:solidFill>
                  <a:srgbClr val="093C61"/>
                </a:solidFill>
                <a:latin typeface="Microsoft Sans Serif"/>
                <a:cs typeface="Microsoft Sans Serif"/>
              </a:rPr>
              <a:t>-</a:t>
            </a:r>
            <a:r>
              <a:rPr dirty="0" sz="1850" spc="-105">
                <a:solidFill>
                  <a:srgbClr val="093C61"/>
                </a:solidFill>
                <a:latin typeface="Microsoft Sans Serif"/>
                <a:cs typeface="Microsoft Sans Serif"/>
              </a:rPr>
              <a:t>End</a:t>
            </a:r>
            <a:r>
              <a:rPr dirty="0" sz="18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75">
                <a:solidFill>
                  <a:srgbClr val="093C61"/>
                </a:solidFill>
                <a:latin typeface="Microsoft Sans Serif"/>
                <a:cs typeface="Microsoft Sans Serif"/>
              </a:rPr>
              <a:t>Data</a:t>
            </a:r>
            <a:r>
              <a:rPr dirty="0" sz="1850" spc="-3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45">
                <a:solidFill>
                  <a:srgbClr val="093C61"/>
                </a:solidFill>
                <a:latin typeface="Microsoft Sans Serif"/>
                <a:cs typeface="Microsoft Sans Serif"/>
              </a:rPr>
              <a:t>Engineering</a:t>
            </a:r>
            <a:r>
              <a:rPr dirty="0" sz="18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093C61"/>
                </a:solidFill>
                <a:latin typeface="Microsoft Sans Serif"/>
                <a:cs typeface="Microsoft Sans Serif"/>
              </a:rPr>
              <a:t>·</a:t>
            </a:r>
            <a:r>
              <a:rPr dirty="0" sz="190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45">
                <a:solidFill>
                  <a:srgbClr val="093C61"/>
                </a:solidFill>
                <a:latin typeface="Microsoft Sans Serif"/>
                <a:cs typeface="Microsoft Sans Serif"/>
              </a:rPr>
              <a:t>ETL</a:t>
            </a:r>
            <a:r>
              <a:rPr dirty="0" sz="18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45">
                <a:solidFill>
                  <a:srgbClr val="093C61"/>
                </a:solidFill>
                <a:latin typeface="Microsoft Sans Serif"/>
                <a:cs typeface="Microsoft Sans Serif"/>
              </a:rPr>
              <a:t>Pipeline</a:t>
            </a:r>
            <a:r>
              <a:rPr dirty="0" sz="1850" spc="-3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093C61"/>
                </a:solidFill>
                <a:latin typeface="Microsoft Sans Serif"/>
                <a:cs typeface="Microsoft Sans Serif"/>
              </a:rPr>
              <a:t>·</a:t>
            </a:r>
            <a:r>
              <a:rPr dirty="0" sz="1900" spc="-4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093C61"/>
                </a:solidFill>
                <a:latin typeface="Microsoft Sans Serif"/>
                <a:cs typeface="Microsoft Sans Serif"/>
              </a:rPr>
              <a:t>Interactive</a:t>
            </a:r>
            <a:r>
              <a:rPr dirty="0" sz="1850" spc="-3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093C61"/>
                </a:solidFill>
                <a:latin typeface="Microsoft Sans Serif"/>
                <a:cs typeface="Microsoft Sans Serif"/>
              </a:rPr>
              <a:t>Intelligence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Prepared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by</a:t>
            </a:r>
            <a:r>
              <a:rPr dirty="0" sz="1450">
                <a:solidFill>
                  <a:srgbClr val="4A6583"/>
                </a:solidFill>
                <a:latin typeface="Microsoft Sans Serif"/>
                <a:cs typeface="Microsoft Sans Serif"/>
              </a:rPr>
              <a:t>:</a:t>
            </a:r>
            <a:r>
              <a:rPr dirty="0" sz="145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95" b="1">
                <a:solidFill>
                  <a:srgbClr val="093C61"/>
                </a:solidFill>
                <a:latin typeface="Arial"/>
                <a:cs typeface="Arial"/>
              </a:rPr>
              <a:t>Ankush</a:t>
            </a:r>
            <a:r>
              <a:rPr dirty="0" sz="1500" spc="-80" b="1">
                <a:solidFill>
                  <a:srgbClr val="093C61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093C61"/>
                </a:solidFill>
                <a:latin typeface="Arial"/>
                <a:cs typeface="Arial"/>
              </a:rPr>
              <a:t>Kumar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30"/>
              <a:t>ENGINEERED</a:t>
            </a:r>
            <a:r>
              <a:rPr dirty="0" spc="-145"/>
              <a:t> </a:t>
            </a:r>
            <a:r>
              <a:rPr dirty="0" spc="-170"/>
              <a:t>FOR</a:t>
            </a:r>
            <a:r>
              <a:rPr dirty="0" spc="-145"/>
              <a:t> </a:t>
            </a:r>
            <a:r>
              <a:rPr dirty="0" spc="-85"/>
              <a:t>COMPLEXITY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33425" y="2428875"/>
            <a:ext cx="2438400" cy="1381125"/>
            <a:chOff x="733425" y="2428875"/>
            <a:chExt cx="2438400" cy="1381125"/>
          </a:xfrm>
        </p:grpSpPr>
        <p:sp>
          <p:nvSpPr>
            <p:cNvPr id="4" name="object 4" descr=""/>
            <p:cNvSpPr/>
            <p:nvPr/>
          </p:nvSpPr>
          <p:spPr>
            <a:xfrm>
              <a:off x="738187" y="2433637"/>
              <a:ext cx="2428875" cy="1371600"/>
            </a:xfrm>
            <a:custGeom>
              <a:avLst/>
              <a:gdLst/>
              <a:ahLst/>
              <a:cxnLst/>
              <a:rect l="l" t="t" r="r" b="b"/>
              <a:pathLst>
                <a:path w="2428875" h="1371600">
                  <a:moveTo>
                    <a:pt x="2326528" y="1371600"/>
                  </a:moveTo>
                  <a:lnTo>
                    <a:pt x="102345" y="1371600"/>
                  </a:lnTo>
                  <a:lnTo>
                    <a:pt x="95221" y="1370933"/>
                  </a:lnTo>
                  <a:lnTo>
                    <a:pt x="54662" y="1357122"/>
                  </a:lnTo>
                  <a:lnTo>
                    <a:pt x="22456" y="1328927"/>
                  </a:lnTo>
                  <a:lnTo>
                    <a:pt x="3508" y="1290447"/>
                  </a:lnTo>
                  <a:lnTo>
                    <a:pt x="0" y="1269301"/>
                  </a:lnTo>
                  <a:lnTo>
                    <a:pt x="0" y="1262062"/>
                  </a:lnTo>
                  <a:lnTo>
                    <a:pt x="0" y="102346"/>
                  </a:lnTo>
                  <a:lnTo>
                    <a:pt x="11089" y="60969"/>
                  </a:lnTo>
                  <a:lnTo>
                    <a:pt x="37168" y="26993"/>
                  </a:lnTo>
                  <a:lnTo>
                    <a:pt x="74264" y="5581"/>
                  </a:lnTo>
                  <a:lnTo>
                    <a:pt x="102345" y="0"/>
                  </a:lnTo>
                  <a:lnTo>
                    <a:pt x="2326528" y="0"/>
                  </a:lnTo>
                  <a:lnTo>
                    <a:pt x="2367895" y="11087"/>
                  </a:lnTo>
                  <a:lnTo>
                    <a:pt x="2401881" y="37166"/>
                  </a:lnTo>
                  <a:lnTo>
                    <a:pt x="2423293" y="74266"/>
                  </a:lnTo>
                  <a:lnTo>
                    <a:pt x="2428875" y="102346"/>
                  </a:lnTo>
                  <a:lnTo>
                    <a:pt x="2428875" y="1269301"/>
                  </a:lnTo>
                  <a:lnTo>
                    <a:pt x="2417787" y="1310639"/>
                  </a:lnTo>
                  <a:lnTo>
                    <a:pt x="2391708" y="1344644"/>
                  </a:lnTo>
                  <a:lnTo>
                    <a:pt x="2354608" y="1365980"/>
                  </a:lnTo>
                  <a:lnTo>
                    <a:pt x="2333653" y="1370933"/>
                  </a:lnTo>
                  <a:lnTo>
                    <a:pt x="2326528" y="137160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38187" y="2433637"/>
              <a:ext cx="2428875" cy="1371600"/>
            </a:xfrm>
            <a:custGeom>
              <a:avLst/>
              <a:gdLst/>
              <a:ahLst/>
              <a:cxnLst/>
              <a:rect l="l" t="t" r="r" b="b"/>
              <a:pathLst>
                <a:path w="2428875" h="1371600">
                  <a:moveTo>
                    <a:pt x="0" y="1262062"/>
                  </a:moveTo>
                  <a:lnTo>
                    <a:pt x="0" y="109537"/>
                  </a:lnTo>
                  <a:lnTo>
                    <a:pt x="0" y="102346"/>
                  </a:lnTo>
                  <a:lnTo>
                    <a:pt x="701" y="95221"/>
                  </a:lnTo>
                  <a:lnTo>
                    <a:pt x="2105" y="88163"/>
                  </a:lnTo>
                  <a:lnTo>
                    <a:pt x="3508" y="81114"/>
                  </a:lnTo>
                  <a:lnTo>
                    <a:pt x="5585" y="74266"/>
                  </a:lnTo>
                  <a:lnTo>
                    <a:pt x="8338" y="67617"/>
                  </a:lnTo>
                  <a:lnTo>
                    <a:pt x="11089" y="60969"/>
                  </a:lnTo>
                  <a:lnTo>
                    <a:pt x="14464" y="54663"/>
                  </a:lnTo>
                  <a:lnTo>
                    <a:pt x="18460" y="48682"/>
                  </a:lnTo>
                  <a:lnTo>
                    <a:pt x="22456" y="42700"/>
                  </a:lnTo>
                  <a:lnTo>
                    <a:pt x="26996" y="37166"/>
                  </a:lnTo>
                  <a:lnTo>
                    <a:pt x="32083" y="32080"/>
                  </a:lnTo>
                  <a:lnTo>
                    <a:pt x="37168" y="26993"/>
                  </a:lnTo>
                  <a:lnTo>
                    <a:pt x="42701" y="22450"/>
                  </a:lnTo>
                  <a:lnTo>
                    <a:pt x="48681" y="18459"/>
                  </a:lnTo>
                  <a:lnTo>
                    <a:pt x="54662" y="14458"/>
                  </a:lnTo>
                  <a:lnTo>
                    <a:pt x="88168" y="2105"/>
                  </a:lnTo>
                  <a:lnTo>
                    <a:pt x="95221" y="704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319337" y="0"/>
                  </a:lnTo>
                  <a:lnTo>
                    <a:pt x="2326528" y="0"/>
                  </a:lnTo>
                  <a:lnTo>
                    <a:pt x="2333653" y="704"/>
                  </a:lnTo>
                  <a:lnTo>
                    <a:pt x="2340702" y="2105"/>
                  </a:lnTo>
                  <a:lnTo>
                    <a:pt x="2347760" y="3505"/>
                  </a:lnTo>
                  <a:lnTo>
                    <a:pt x="2380192" y="18459"/>
                  </a:lnTo>
                  <a:lnTo>
                    <a:pt x="2386174" y="22450"/>
                  </a:lnTo>
                  <a:lnTo>
                    <a:pt x="2391708" y="26993"/>
                  </a:lnTo>
                  <a:lnTo>
                    <a:pt x="2396794" y="32080"/>
                  </a:lnTo>
                  <a:lnTo>
                    <a:pt x="2401881" y="37166"/>
                  </a:lnTo>
                  <a:lnTo>
                    <a:pt x="2420540" y="67617"/>
                  </a:lnTo>
                  <a:lnTo>
                    <a:pt x="2423293" y="74266"/>
                  </a:lnTo>
                  <a:lnTo>
                    <a:pt x="2425369" y="81114"/>
                  </a:lnTo>
                  <a:lnTo>
                    <a:pt x="2426769" y="88163"/>
                  </a:lnTo>
                  <a:lnTo>
                    <a:pt x="2428170" y="95221"/>
                  </a:lnTo>
                  <a:lnTo>
                    <a:pt x="2428875" y="102346"/>
                  </a:lnTo>
                  <a:lnTo>
                    <a:pt x="2428875" y="109537"/>
                  </a:lnTo>
                  <a:lnTo>
                    <a:pt x="2428875" y="1262062"/>
                  </a:lnTo>
                  <a:lnTo>
                    <a:pt x="2428875" y="1269301"/>
                  </a:lnTo>
                  <a:lnTo>
                    <a:pt x="2428170" y="1276350"/>
                  </a:lnTo>
                  <a:lnTo>
                    <a:pt x="2414406" y="1316926"/>
                  </a:lnTo>
                  <a:lnTo>
                    <a:pt x="2396794" y="1339500"/>
                  </a:lnTo>
                  <a:lnTo>
                    <a:pt x="2391708" y="1344644"/>
                  </a:lnTo>
                  <a:lnTo>
                    <a:pt x="2386174" y="1349121"/>
                  </a:lnTo>
                  <a:lnTo>
                    <a:pt x="2380192" y="1353121"/>
                  </a:lnTo>
                  <a:lnTo>
                    <a:pt x="2374211" y="1357122"/>
                  </a:lnTo>
                  <a:lnTo>
                    <a:pt x="2367895" y="1360550"/>
                  </a:lnTo>
                  <a:lnTo>
                    <a:pt x="2361257" y="1363217"/>
                  </a:lnTo>
                  <a:lnTo>
                    <a:pt x="2354608" y="1365980"/>
                  </a:lnTo>
                  <a:lnTo>
                    <a:pt x="2347760" y="1368075"/>
                  </a:lnTo>
                  <a:lnTo>
                    <a:pt x="2340702" y="1369504"/>
                  </a:lnTo>
                  <a:lnTo>
                    <a:pt x="2333653" y="1370933"/>
                  </a:lnTo>
                  <a:lnTo>
                    <a:pt x="2326528" y="1371600"/>
                  </a:lnTo>
                  <a:lnTo>
                    <a:pt x="2319337" y="1371600"/>
                  </a:lnTo>
                  <a:lnTo>
                    <a:pt x="109537" y="1371600"/>
                  </a:lnTo>
                  <a:lnTo>
                    <a:pt x="102345" y="1371600"/>
                  </a:lnTo>
                  <a:lnTo>
                    <a:pt x="95221" y="1370933"/>
                  </a:lnTo>
                  <a:lnTo>
                    <a:pt x="88168" y="1369504"/>
                  </a:lnTo>
                  <a:lnTo>
                    <a:pt x="81113" y="1368075"/>
                  </a:lnTo>
                  <a:lnTo>
                    <a:pt x="74264" y="1365980"/>
                  </a:lnTo>
                  <a:lnTo>
                    <a:pt x="67618" y="1363217"/>
                  </a:lnTo>
                  <a:lnTo>
                    <a:pt x="60974" y="1360550"/>
                  </a:lnTo>
                  <a:lnTo>
                    <a:pt x="32083" y="1339500"/>
                  </a:lnTo>
                  <a:lnTo>
                    <a:pt x="26996" y="1334452"/>
                  </a:lnTo>
                  <a:lnTo>
                    <a:pt x="8338" y="1303972"/>
                  </a:lnTo>
                  <a:lnTo>
                    <a:pt x="5585" y="1297305"/>
                  </a:lnTo>
                  <a:lnTo>
                    <a:pt x="3508" y="1290447"/>
                  </a:lnTo>
                  <a:lnTo>
                    <a:pt x="2105" y="1283398"/>
                  </a:lnTo>
                  <a:lnTo>
                    <a:pt x="701" y="1276350"/>
                  </a:lnTo>
                  <a:lnTo>
                    <a:pt x="0" y="1269301"/>
                  </a:lnTo>
                  <a:lnTo>
                    <a:pt x="0" y="126206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71831" y="2313170"/>
            <a:ext cx="1362075" cy="1253490"/>
          </a:xfrm>
          <a:prstGeom prst="rect">
            <a:avLst/>
          </a:prstGeom>
        </p:spPr>
        <p:txBody>
          <a:bodyPr wrap="square" lIns="0" tIns="2933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dirty="0" sz="4600" spc="-85" b="1">
                <a:solidFill>
                  <a:srgbClr val="093C61"/>
                </a:solidFill>
                <a:latin typeface="Arial"/>
                <a:cs typeface="Arial"/>
              </a:rPr>
              <a:t>87</a:t>
            </a:r>
            <a:r>
              <a:rPr dirty="0" sz="4550" spc="-85" b="1">
                <a:solidFill>
                  <a:srgbClr val="093C61"/>
                </a:solidFill>
                <a:latin typeface="Bell MT"/>
                <a:cs typeface="Bell MT"/>
              </a:rPr>
              <a:t>K</a:t>
            </a:r>
            <a:r>
              <a:rPr dirty="0" sz="4600" spc="-85" b="1">
                <a:solidFill>
                  <a:srgbClr val="093C61"/>
                </a:solidFill>
                <a:latin typeface="Arial"/>
                <a:cs typeface="Arial"/>
              </a:rPr>
              <a:t>+</a:t>
            </a:r>
            <a:endParaRPr sz="4600">
              <a:latin typeface="Arial"/>
              <a:cs typeface="Arial"/>
            </a:endParaRPr>
          </a:p>
          <a:p>
            <a:pPr algn="ctr" marR="1905">
              <a:lnSpc>
                <a:spcPct val="100000"/>
              </a:lnSpc>
              <a:spcBef>
                <a:spcPts val="555"/>
              </a:spcBef>
            </a:pPr>
            <a:r>
              <a:rPr dirty="0" sz="1150" spc="-35" b="1">
                <a:solidFill>
                  <a:srgbClr val="4A6583"/>
                </a:solidFill>
                <a:latin typeface="Arial"/>
                <a:cs typeface="Arial"/>
              </a:rPr>
              <a:t>DATA</a:t>
            </a:r>
            <a:r>
              <a:rPr dirty="0" sz="1150" spc="-1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4A6583"/>
                </a:solidFill>
                <a:latin typeface="Arial"/>
                <a:cs typeface="Arial"/>
              </a:rPr>
              <a:t>ROWS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495675" y="2428875"/>
            <a:ext cx="2438400" cy="1381125"/>
            <a:chOff x="3495675" y="2428875"/>
            <a:chExt cx="2438400" cy="1381125"/>
          </a:xfrm>
        </p:grpSpPr>
        <p:sp>
          <p:nvSpPr>
            <p:cNvPr id="8" name="object 8" descr=""/>
            <p:cNvSpPr/>
            <p:nvPr/>
          </p:nvSpPr>
          <p:spPr>
            <a:xfrm>
              <a:off x="3500437" y="2433637"/>
              <a:ext cx="2428875" cy="1371600"/>
            </a:xfrm>
            <a:custGeom>
              <a:avLst/>
              <a:gdLst/>
              <a:ahLst/>
              <a:cxnLst/>
              <a:rect l="l" t="t" r="r" b="b"/>
              <a:pathLst>
                <a:path w="2428875" h="1371600">
                  <a:moveTo>
                    <a:pt x="2326528" y="1371600"/>
                  </a:moveTo>
                  <a:lnTo>
                    <a:pt x="102346" y="1371600"/>
                  </a:lnTo>
                  <a:lnTo>
                    <a:pt x="95221" y="1370933"/>
                  </a:lnTo>
                  <a:lnTo>
                    <a:pt x="54663" y="1357122"/>
                  </a:lnTo>
                  <a:lnTo>
                    <a:pt x="22459" y="1328927"/>
                  </a:lnTo>
                  <a:lnTo>
                    <a:pt x="3505" y="1290447"/>
                  </a:lnTo>
                  <a:lnTo>
                    <a:pt x="0" y="1269301"/>
                  </a:lnTo>
                  <a:lnTo>
                    <a:pt x="0" y="1262062"/>
                  </a:lnTo>
                  <a:lnTo>
                    <a:pt x="0" y="102346"/>
                  </a:lnTo>
                  <a:lnTo>
                    <a:pt x="11087" y="60969"/>
                  </a:lnTo>
                  <a:lnTo>
                    <a:pt x="37166" y="26993"/>
                  </a:lnTo>
                  <a:lnTo>
                    <a:pt x="74266" y="5581"/>
                  </a:lnTo>
                  <a:lnTo>
                    <a:pt x="102346" y="0"/>
                  </a:lnTo>
                  <a:lnTo>
                    <a:pt x="2326528" y="0"/>
                  </a:lnTo>
                  <a:lnTo>
                    <a:pt x="2367895" y="11087"/>
                  </a:lnTo>
                  <a:lnTo>
                    <a:pt x="2401881" y="37166"/>
                  </a:lnTo>
                  <a:lnTo>
                    <a:pt x="2423293" y="74266"/>
                  </a:lnTo>
                  <a:lnTo>
                    <a:pt x="2428875" y="102346"/>
                  </a:lnTo>
                  <a:lnTo>
                    <a:pt x="2428875" y="1269301"/>
                  </a:lnTo>
                  <a:lnTo>
                    <a:pt x="2417787" y="1310639"/>
                  </a:lnTo>
                  <a:lnTo>
                    <a:pt x="2391708" y="1344644"/>
                  </a:lnTo>
                  <a:lnTo>
                    <a:pt x="2354608" y="1365980"/>
                  </a:lnTo>
                  <a:lnTo>
                    <a:pt x="2333653" y="1370933"/>
                  </a:lnTo>
                  <a:lnTo>
                    <a:pt x="2326528" y="137160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500437" y="2433637"/>
              <a:ext cx="2428875" cy="1371600"/>
            </a:xfrm>
            <a:custGeom>
              <a:avLst/>
              <a:gdLst/>
              <a:ahLst/>
              <a:cxnLst/>
              <a:rect l="l" t="t" r="r" b="b"/>
              <a:pathLst>
                <a:path w="2428875" h="1371600">
                  <a:moveTo>
                    <a:pt x="0" y="1262062"/>
                  </a:moveTo>
                  <a:lnTo>
                    <a:pt x="0" y="109537"/>
                  </a:lnTo>
                  <a:lnTo>
                    <a:pt x="0" y="102346"/>
                  </a:lnTo>
                  <a:lnTo>
                    <a:pt x="704" y="95221"/>
                  </a:lnTo>
                  <a:lnTo>
                    <a:pt x="2105" y="88163"/>
                  </a:lnTo>
                  <a:lnTo>
                    <a:pt x="3505" y="81114"/>
                  </a:lnTo>
                  <a:lnTo>
                    <a:pt x="5581" y="74266"/>
                  </a:lnTo>
                  <a:lnTo>
                    <a:pt x="8334" y="67617"/>
                  </a:lnTo>
                  <a:lnTo>
                    <a:pt x="11087" y="60969"/>
                  </a:lnTo>
                  <a:lnTo>
                    <a:pt x="32080" y="32080"/>
                  </a:lnTo>
                  <a:lnTo>
                    <a:pt x="37166" y="26993"/>
                  </a:lnTo>
                  <a:lnTo>
                    <a:pt x="42700" y="22450"/>
                  </a:lnTo>
                  <a:lnTo>
                    <a:pt x="48682" y="18459"/>
                  </a:lnTo>
                  <a:lnTo>
                    <a:pt x="54663" y="14458"/>
                  </a:lnTo>
                  <a:lnTo>
                    <a:pt x="60969" y="11087"/>
                  </a:lnTo>
                  <a:lnTo>
                    <a:pt x="67617" y="8334"/>
                  </a:lnTo>
                  <a:lnTo>
                    <a:pt x="74266" y="5581"/>
                  </a:lnTo>
                  <a:lnTo>
                    <a:pt x="81114" y="3505"/>
                  </a:lnTo>
                  <a:lnTo>
                    <a:pt x="88163" y="2105"/>
                  </a:lnTo>
                  <a:lnTo>
                    <a:pt x="95221" y="704"/>
                  </a:lnTo>
                  <a:lnTo>
                    <a:pt x="102346" y="0"/>
                  </a:lnTo>
                  <a:lnTo>
                    <a:pt x="109537" y="0"/>
                  </a:lnTo>
                  <a:lnTo>
                    <a:pt x="2319337" y="0"/>
                  </a:lnTo>
                  <a:lnTo>
                    <a:pt x="2326528" y="0"/>
                  </a:lnTo>
                  <a:lnTo>
                    <a:pt x="2333653" y="704"/>
                  </a:lnTo>
                  <a:lnTo>
                    <a:pt x="2340702" y="2105"/>
                  </a:lnTo>
                  <a:lnTo>
                    <a:pt x="2347760" y="3505"/>
                  </a:lnTo>
                  <a:lnTo>
                    <a:pt x="2380192" y="18459"/>
                  </a:lnTo>
                  <a:lnTo>
                    <a:pt x="2386174" y="22450"/>
                  </a:lnTo>
                  <a:lnTo>
                    <a:pt x="2391708" y="26993"/>
                  </a:lnTo>
                  <a:lnTo>
                    <a:pt x="2396794" y="32080"/>
                  </a:lnTo>
                  <a:lnTo>
                    <a:pt x="2401881" y="37166"/>
                  </a:lnTo>
                  <a:lnTo>
                    <a:pt x="2420540" y="67617"/>
                  </a:lnTo>
                  <a:lnTo>
                    <a:pt x="2423293" y="74266"/>
                  </a:lnTo>
                  <a:lnTo>
                    <a:pt x="2425369" y="81114"/>
                  </a:lnTo>
                  <a:lnTo>
                    <a:pt x="2426769" y="88163"/>
                  </a:lnTo>
                  <a:lnTo>
                    <a:pt x="2428170" y="95221"/>
                  </a:lnTo>
                  <a:lnTo>
                    <a:pt x="2428875" y="102346"/>
                  </a:lnTo>
                  <a:lnTo>
                    <a:pt x="2428875" y="109537"/>
                  </a:lnTo>
                  <a:lnTo>
                    <a:pt x="2428875" y="1262062"/>
                  </a:lnTo>
                  <a:lnTo>
                    <a:pt x="2428875" y="1269301"/>
                  </a:lnTo>
                  <a:lnTo>
                    <a:pt x="2428170" y="1276350"/>
                  </a:lnTo>
                  <a:lnTo>
                    <a:pt x="2414406" y="1316926"/>
                  </a:lnTo>
                  <a:lnTo>
                    <a:pt x="2396794" y="1339500"/>
                  </a:lnTo>
                  <a:lnTo>
                    <a:pt x="2391708" y="1344644"/>
                  </a:lnTo>
                  <a:lnTo>
                    <a:pt x="2386174" y="1349121"/>
                  </a:lnTo>
                  <a:lnTo>
                    <a:pt x="2380192" y="1353121"/>
                  </a:lnTo>
                  <a:lnTo>
                    <a:pt x="2374211" y="1357122"/>
                  </a:lnTo>
                  <a:lnTo>
                    <a:pt x="2367895" y="1360550"/>
                  </a:lnTo>
                  <a:lnTo>
                    <a:pt x="2361257" y="1363217"/>
                  </a:lnTo>
                  <a:lnTo>
                    <a:pt x="2354608" y="1365980"/>
                  </a:lnTo>
                  <a:lnTo>
                    <a:pt x="2347760" y="1368075"/>
                  </a:lnTo>
                  <a:lnTo>
                    <a:pt x="2340702" y="1369504"/>
                  </a:lnTo>
                  <a:lnTo>
                    <a:pt x="2333653" y="1370933"/>
                  </a:lnTo>
                  <a:lnTo>
                    <a:pt x="2326528" y="1371600"/>
                  </a:lnTo>
                  <a:lnTo>
                    <a:pt x="2319337" y="1371600"/>
                  </a:lnTo>
                  <a:lnTo>
                    <a:pt x="109537" y="1371600"/>
                  </a:lnTo>
                  <a:lnTo>
                    <a:pt x="102346" y="1371600"/>
                  </a:lnTo>
                  <a:lnTo>
                    <a:pt x="95221" y="1370933"/>
                  </a:lnTo>
                  <a:lnTo>
                    <a:pt x="88163" y="1369504"/>
                  </a:lnTo>
                  <a:lnTo>
                    <a:pt x="81114" y="1368075"/>
                  </a:lnTo>
                  <a:lnTo>
                    <a:pt x="74266" y="1365980"/>
                  </a:lnTo>
                  <a:lnTo>
                    <a:pt x="67617" y="1363217"/>
                  </a:lnTo>
                  <a:lnTo>
                    <a:pt x="60969" y="1360550"/>
                  </a:lnTo>
                  <a:lnTo>
                    <a:pt x="54663" y="1357122"/>
                  </a:lnTo>
                  <a:lnTo>
                    <a:pt x="48682" y="1353121"/>
                  </a:lnTo>
                  <a:lnTo>
                    <a:pt x="42700" y="1349121"/>
                  </a:lnTo>
                  <a:lnTo>
                    <a:pt x="37166" y="1344644"/>
                  </a:lnTo>
                  <a:lnTo>
                    <a:pt x="32080" y="1339500"/>
                  </a:lnTo>
                  <a:lnTo>
                    <a:pt x="26993" y="1334452"/>
                  </a:lnTo>
                  <a:lnTo>
                    <a:pt x="5581" y="1297305"/>
                  </a:lnTo>
                  <a:lnTo>
                    <a:pt x="0" y="1269301"/>
                  </a:lnTo>
                  <a:lnTo>
                    <a:pt x="0" y="126206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097337" y="2313170"/>
            <a:ext cx="1235075" cy="1253490"/>
          </a:xfrm>
          <a:prstGeom prst="rect">
            <a:avLst/>
          </a:prstGeom>
        </p:spPr>
        <p:txBody>
          <a:bodyPr wrap="square" lIns="0" tIns="2933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dirty="0" sz="4600" spc="-20" b="1">
                <a:solidFill>
                  <a:srgbClr val="093C61"/>
                </a:solidFill>
                <a:latin typeface="Arial"/>
                <a:cs typeface="Arial"/>
              </a:rPr>
              <a:t>4.5</a:t>
            </a:r>
            <a:r>
              <a:rPr dirty="0" sz="4550" spc="-20" b="1">
                <a:solidFill>
                  <a:srgbClr val="093C61"/>
                </a:solidFill>
                <a:latin typeface="Bell MT"/>
                <a:cs typeface="Bell MT"/>
              </a:rPr>
              <a:t>Y</a:t>
            </a:r>
            <a:endParaRPr sz="4550">
              <a:latin typeface="Bell MT"/>
              <a:cs typeface="Bell MT"/>
            </a:endParaRPr>
          </a:p>
          <a:p>
            <a:pPr algn="ctr" marR="1905">
              <a:lnSpc>
                <a:spcPct val="100000"/>
              </a:lnSpc>
              <a:spcBef>
                <a:spcPts val="555"/>
              </a:spcBef>
            </a:pPr>
            <a:r>
              <a:rPr dirty="0" sz="1150" b="1">
                <a:solidFill>
                  <a:srgbClr val="4A6583"/>
                </a:solidFill>
                <a:latin typeface="Arial"/>
                <a:cs typeface="Arial"/>
              </a:rPr>
              <a:t>NAV</a:t>
            </a:r>
            <a:r>
              <a:rPr dirty="0" sz="1150" spc="40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4A6583"/>
                </a:solidFill>
                <a:latin typeface="Arial"/>
                <a:cs typeface="Arial"/>
              </a:rPr>
              <a:t>HISTORY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257925" y="2428875"/>
            <a:ext cx="2438400" cy="1381125"/>
            <a:chOff x="6257925" y="2428875"/>
            <a:chExt cx="2438400" cy="1381125"/>
          </a:xfrm>
        </p:grpSpPr>
        <p:sp>
          <p:nvSpPr>
            <p:cNvPr id="12" name="object 12" descr=""/>
            <p:cNvSpPr/>
            <p:nvPr/>
          </p:nvSpPr>
          <p:spPr>
            <a:xfrm>
              <a:off x="6262687" y="2433637"/>
              <a:ext cx="2428875" cy="1371600"/>
            </a:xfrm>
            <a:custGeom>
              <a:avLst/>
              <a:gdLst/>
              <a:ahLst/>
              <a:cxnLst/>
              <a:rect l="l" t="t" r="r" b="b"/>
              <a:pathLst>
                <a:path w="2428875" h="1371600">
                  <a:moveTo>
                    <a:pt x="2326528" y="1371600"/>
                  </a:moveTo>
                  <a:lnTo>
                    <a:pt x="102346" y="1371600"/>
                  </a:lnTo>
                  <a:lnTo>
                    <a:pt x="95221" y="1370933"/>
                  </a:lnTo>
                  <a:lnTo>
                    <a:pt x="54663" y="1357122"/>
                  </a:lnTo>
                  <a:lnTo>
                    <a:pt x="22459" y="1328927"/>
                  </a:lnTo>
                  <a:lnTo>
                    <a:pt x="3505" y="1290447"/>
                  </a:lnTo>
                  <a:lnTo>
                    <a:pt x="0" y="1269301"/>
                  </a:lnTo>
                  <a:lnTo>
                    <a:pt x="0" y="1262062"/>
                  </a:lnTo>
                  <a:lnTo>
                    <a:pt x="0" y="102346"/>
                  </a:lnTo>
                  <a:lnTo>
                    <a:pt x="11087" y="60969"/>
                  </a:lnTo>
                  <a:lnTo>
                    <a:pt x="37166" y="26993"/>
                  </a:lnTo>
                  <a:lnTo>
                    <a:pt x="74266" y="5581"/>
                  </a:lnTo>
                  <a:lnTo>
                    <a:pt x="102346" y="0"/>
                  </a:lnTo>
                  <a:lnTo>
                    <a:pt x="2326528" y="0"/>
                  </a:lnTo>
                  <a:lnTo>
                    <a:pt x="2367895" y="11087"/>
                  </a:lnTo>
                  <a:lnTo>
                    <a:pt x="2401881" y="37166"/>
                  </a:lnTo>
                  <a:lnTo>
                    <a:pt x="2423293" y="74266"/>
                  </a:lnTo>
                  <a:lnTo>
                    <a:pt x="2428875" y="102346"/>
                  </a:lnTo>
                  <a:lnTo>
                    <a:pt x="2428875" y="1269301"/>
                  </a:lnTo>
                  <a:lnTo>
                    <a:pt x="2417787" y="1310639"/>
                  </a:lnTo>
                  <a:lnTo>
                    <a:pt x="2391708" y="1344644"/>
                  </a:lnTo>
                  <a:lnTo>
                    <a:pt x="2354608" y="1365980"/>
                  </a:lnTo>
                  <a:lnTo>
                    <a:pt x="2333653" y="1370933"/>
                  </a:lnTo>
                  <a:lnTo>
                    <a:pt x="2326528" y="137160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262687" y="2433637"/>
              <a:ext cx="2428875" cy="1371600"/>
            </a:xfrm>
            <a:custGeom>
              <a:avLst/>
              <a:gdLst/>
              <a:ahLst/>
              <a:cxnLst/>
              <a:rect l="l" t="t" r="r" b="b"/>
              <a:pathLst>
                <a:path w="2428875" h="1371600">
                  <a:moveTo>
                    <a:pt x="0" y="1262062"/>
                  </a:moveTo>
                  <a:lnTo>
                    <a:pt x="0" y="109537"/>
                  </a:lnTo>
                  <a:lnTo>
                    <a:pt x="0" y="102346"/>
                  </a:lnTo>
                  <a:lnTo>
                    <a:pt x="704" y="95221"/>
                  </a:lnTo>
                  <a:lnTo>
                    <a:pt x="2105" y="88163"/>
                  </a:lnTo>
                  <a:lnTo>
                    <a:pt x="3505" y="81114"/>
                  </a:lnTo>
                  <a:lnTo>
                    <a:pt x="5581" y="74266"/>
                  </a:lnTo>
                  <a:lnTo>
                    <a:pt x="8334" y="67617"/>
                  </a:lnTo>
                  <a:lnTo>
                    <a:pt x="11087" y="60969"/>
                  </a:lnTo>
                  <a:lnTo>
                    <a:pt x="32080" y="32080"/>
                  </a:lnTo>
                  <a:lnTo>
                    <a:pt x="37166" y="26993"/>
                  </a:lnTo>
                  <a:lnTo>
                    <a:pt x="42700" y="22450"/>
                  </a:lnTo>
                  <a:lnTo>
                    <a:pt x="48682" y="18459"/>
                  </a:lnTo>
                  <a:lnTo>
                    <a:pt x="54663" y="14458"/>
                  </a:lnTo>
                  <a:lnTo>
                    <a:pt x="60969" y="11087"/>
                  </a:lnTo>
                  <a:lnTo>
                    <a:pt x="67617" y="8334"/>
                  </a:lnTo>
                  <a:lnTo>
                    <a:pt x="74266" y="5581"/>
                  </a:lnTo>
                  <a:lnTo>
                    <a:pt x="81114" y="3505"/>
                  </a:lnTo>
                  <a:lnTo>
                    <a:pt x="88163" y="2105"/>
                  </a:lnTo>
                  <a:lnTo>
                    <a:pt x="95221" y="704"/>
                  </a:lnTo>
                  <a:lnTo>
                    <a:pt x="102346" y="0"/>
                  </a:lnTo>
                  <a:lnTo>
                    <a:pt x="109537" y="0"/>
                  </a:lnTo>
                  <a:lnTo>
                    <a:pt x="2319337" y="0"/>
                  </a:lnTo>
                  <a:lnTo>
                    <a:pt x="2326528" y="0"/>
                  </a:lnTo>
                  <a:lnTo>
                    <a:pt x="2333653" y="704"/>
                  </a:lnTo>
                  <a:lnTo>
                    <a:pt x="2340702" y="2105"/>
                  </a:lnTo>
                  <a:lnTo>
                    <a:pt x="2347760" y="3505"/>
                  </a:lnTo>
                  <a:lnTo>
                    <a:pt x="2380192" y="18459"/>
                  </a:lnTo>
                  <a:lnTo>
                    <a:pt x="2386174" y="22450"/>
                  </a:lnTo>
                  <a:lnTo>
                    <a:pt x="2391708" y="26993"/>
                  </a:lnTo>
                  <a:lnTo>
                    <a:pt x="2396794" y="32080"/>
                  </a:lnTo>
                  <a:lnTo>
                    <a:pt x="2401881" y="37166"/>
                  </a:lnTo>
                  <a:lnTo>
                    <a:pt x="2420540" y="67617"/>
                  </a:lnTo>
                  <a:lnTo>
                    <a:pt x="2423293" y="74266"/>
                  </a:lnTo>
                  <a:lnTo>
                    <a:pt x="2425369" y="81114"/>
                  </a:lnTo>
                  <a:lnTo>
                    <a:pt x="2426769" y="88163"/>
                  </a:lnTo>
                  <a:lnTo>
                    <a:pt x="2428170" y="95221"/>
                  </a:lnTo>
                  <a:lnTo>
                    <a:pt x="2428875" y="102346"/>
                  </a:lnTo>
                  <a:lnTo>
                    <a:pt x="2428875" y="109537"/>
                  </a:lnTo>
                  <a:lnTo>
                    <a:pt x="2428875" y="1262062"/>
                  </a:lnTo>
                  <a:lnTo>
                    <a:pt x="2428875" y="1269301"/>
                  </a:lnTo>
                  <a:lnTo>
                    <a:pt x="2428170" y="1276350"/>
                  </a:lnTo>
                  <a:lnTo>
                    <a:pt x="2414406" y="1316926"/>
                  </a:lnTo>
                  <a:lnTo>
                    <a:pt x="2396794" y="1339500"/>
                  </a:lnTo>
                  <a:lnTo>
                    <a:pt x="2391708" y="1344644"/>
                  </a:lnTo>
                  <a:lnTo>
                    <a:pt x="2386174" y="1349121"/>
                  </a:lnTo>
                  <a:lnTo>
                    <a:pt x="2380192" y="1353121"/>
                  </a:lnTo>
                  <a:lnTo>
                    <a:pt x="2374211" y="1357122"/>
                  </a:lnTo>
                  <a:lnTo>
                    <a:pt x="2367895" y="1360550"/>
                  </a:lnTo>
                  <a:lnTo>
                    <a:pt x="2361257" y="1363217"/>
                  </a:lnTo>
                  <a:lnTo>
                    <a:pt x="2354608" y="1365980"/>
                  </a:lnTo>
                  <a:lnTo>
                    <a:pt x="2347760" y="1368075"/>
                  </a:lnTo>
                  <a:lnTo>
                    <a:pt x="2340702" y="1369504"/>
                  </a:lnTo>
                  <a:lnTo>
                    <a:pt x="2333653" y="1370933"/>
                  </a:lnTo>
                  <a:lnTo>
                    <a:pt x="2326528" y="1371600"/>
                  </a:lnTo>
                  <a:lnTo>
                    <a:pt x="2319337" y="1371600"/>
                  </a:lnTo>
                  <a:lnTo>
                    <a:pt x="109537" y="1371600"/>
                  </a:lnTo>
                  <a:lnTo>
                    <a:pt x="102346" y="1371600"/>
                  </a:lnTo>
                  <a:lnTo>
                    <a:pt x="95221" y="1370933"/>
                  </a:lnTo>
                  <a:lnTo>
                    <a:pt x="88163" y="1369504"/>
                  </a:lnTo>
                  <a:lnTo>
                    <a:pt x="81114" y="1368075"/>
                  </a:lnTo>
                  <a:lnTo>
                    <a:pt x="74266" y="1365980"/>
                  </a:lnTo>
                  <a:lnTo>
                    <a:pt x="67617" y="1363217"/>
                  </a:lnTo>
                  <a:lnTo>
                    <a:pt x="60969" y="1360550"/>
                  </a:lnTo>
                  <a:lnTo>
                    <a:pt x="54663" y="1357122"/>
                  </a:lnTo>
                  <a:lnTo>
                    <a:pt x="48682" y="1353121"/>
                  </a:lnTo>
                  <a:lnTo>
                    <a:pt x="42700" y="1349121"/>
                  </a:lnTo>
                  <a:lnTo>
                    <a:pt x="37166" y="1344644"/>
                  </a:lnTo>
                  <a:lnTo>
                    <a:pt x="32080" y="1339500"/>
                  </a:lnTo>
                  <a:lnTo>
                    <a:pt x="26993" y="1334452"/>
                  </a:lnTo>
                  <a:lnTo>
                    <a:pt x="5581" y="1297305"/>
                  </a:lnTo>
                  <a:lnTo>
                    <a:pt x="0" y="1269301"/>
                  </a:lnTo>
                  <a:lnTo>
                    <a:pt x="0" y="126206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875513" y="2313170"/>
            <a:ext cx="1193800" cy="1253490"/>
          </a:xfrm>
          <a:prstGeom prst="rect">
            <a:avLst/>
          </a:prstGeom>
        </p:spPr>
        <p:txBody>
          <a:bodyPr wrap="square" lIns="0" tIns="29337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2310"/>
              </a:spcBef>
            </a:pPr>
            <a:r>
              <a:rPr dirty="0" sz="4600" spc="165" b="1">
                <a:solidFill>
                  <a:srgbClr val="093C61"/>
                </a:solidFill>
                <a:latin typeface="Arial"/>
                <a:cs typeface="Arial"/>
              </a:rPr>
              <a:t>40+</a:t>
            </a:r>
            <a:endParaRPr sz="4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150" b="1">
                <a:solidFill>
                  <a:srgbClr val="4A6583"/>
                </a:solidFill>
                <a:latin typeface="Arial"/>
                <a:cs typeface="Arial"/>
              </a:rPr>
              <a:t>FUND</a:t>
            </a:r>
            <a:r>
              <a:rPr dirty="0" sz="1150" spc="4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4A6583"/>
                </a:solidFill>
                <a:latin typeface="Arial"/>
                <a:cs typeface="Arial"/>
              </a:rPr>
              <a:t>SCHEMES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020175" y="2428875"/>
            <a:ext cx="2438400" cy="1381125"/>
            <a:chOff x="9020175" y="2428875"/>
            <a:chExt cx="2438400" cy="1381125"/>
          </a:xfrm>
        </p:grpSpPr>
        <p:sp>
          <p:nvSpPr>
            <p:cNvPr id="16" name="object 16" descr=""/>
            <p:cNvSpPr/>
            <p:nvPr/>
          </p:nvSpPr>
          <p:spPr>
            <a:xfrm>
              <a:off x="9024937" y="2433637"/>
              <a:ext cx="2428875" cy="1371600"/>
            </a:xfrm>
            <a:custGeom>
              <a:avLst/>
              <a:gdLst/>
              <a:ahLst/>
              <a:cxnLst/>
              <a:rect l="l" t="t" r="r" b="b"/>
              <a:pathLst>
                <a:path w="2428875" h="1371600">
                  <a:moveTo>
                    <a:pt x="2326576" y="1371600"/>
                  </a:moveTo>
                  <a:lnTo>
                    <a:pt x="102346" y="1371600"/>
                  </a:lnTo>
                  <a:lnTo>
                    <a:pt x="95221" y="1370933"/>
                  </a:lnTo>
                  <a:lnTo>
                    <a:pt x="54663" y="1357122"/>
                  </a:lnTo>
                  <a:lnTo>
                    <a:pt x="22459" y="1328927"/>
                  </a:lnTo>
                  <a:lnTo>
                    <a:pt x="3505" y="1290447"/>
                  </a:lnTo>
                  <a:lnTo>
                    <a:pt x="0" y="1269301"/>
                  </a:lnTo>
                  <a:lnTo>
                    <a:pt x="0" y="1262062"/>
                  </a:lnTo>
                  <a:lnTo>
                    <a:pt x="0" y="102346"/>
                  </a:lnTo>
                  <a:lnTo>
                    <a:pt x="11087" y="60969"/>
                  </a:lnTo>
                  <a:lnTo>
                    <a:pt x="37166" y="26993"/>
                  </a:lnTo>
                  <a:lnTo>
                    <a:pt x="74266" y="5581"/>
                  </a:lnTo>
                  <a:lnTo>
                    <a:pt x="102346" y="0"/>
                  </a:lnTo>
                  <a:lnTo>
                    <a:pt x="2326576" y="0"/>
                  </a:lnTo>
                  <a:lnTo>
                    <a:pt x="2367914" y="11087"/>
                  </a:lnTo>
                  <a:lnTo>
                    <a:pt x="2401919" y="37166"/>
                  </a:lnTo>
                  <a:lnTo>
                    <a:pt x="2423255" y="74266"/>
                  </a:lnTo>
                  <a:lnTo>
                    <a:pt x="2428875" y="102346"/>
                  </a:lnTo>
                  <a:lnTo>
                    <a:pt x="2428875" y="1269301"/>
                  </a:lnTo>
                  <a:lnTo>
                    <a:pt x="2417825" y="1310639"/>
                  </a:lnTo>
                  <a:lnTo>
                    <a:pt x="2391727" y="1344644"/>
                  </a:lnTo>
                  <a:lnTo>
                    <a:pt x="2354580" y="1365980"/>
                  </a:lnTo>
                  <a:lnTo>
                    <a:pt x="2333625" y="1370933"/>
                  </a:lnTo>
                  <a:lnTo>
                    <a:pt x="2326576" y="137160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024937" y="2433637"/>
              <a:ext cx="2428875" cy="1371600"/>
            </a:xfrm>
            <a:custGeom>
              <a:avLst/>
              <a:gdLst/>
              <a:ahLst/>
              <a:cxnLst/>
              <a:rect l="l" t="t" r="r" b="b"/>
              <a:pathLst>
                <a:path w="2428875" h="1371600">
                  <a:moveTo>
                    <a:pt x="0" y="1262062"/>
                  </a:moveTo>
                  <a:lnTo>
                    <a:pt x="0" y="109537"/>
                  </a:lnTo>
                  <a:lnTo>
                    <a:pt x="0" y="102346"/>
                  </a:lnTo>
                  <a:lnTo>
                    <a:pt x="704" y="95221"/>
                  </a:lnTo>
                  <a:lnTo>
                    <a:pt x="2105" y="88163"/>
                  </a:lnTo>
                  <a:lnTo>
                    <a:pt x="3505" y="81114"/>
                  </a:lnTo>
                  <a:lnTo>
                    <a:pt x="5581" y="74266"/>
                  </a:lnTo>
                  <a:lnTo>
                    <a:pt x="8334" y="67617"/>
                  </a:lnTo>
                  <a:lnTo>
                    <a:pt x="11087" y="60969"/>
                  </a:lnTo>
                  <a:lnTo>
                    <a:pt x="14458" y="54663"/>
                  </a:lnTo>
                  <a:lnTo>
                    <a:pt x="18459" y="48682"/>
                  </a:lnTo>
                  <a:lnTo>
                    <a:pt x="22459" y="42700"/>
                  </a:lnTo>
                  <a:lnTo>
                    <a:pt x="26993" y="37166"/>
                  </a:lnTo>
                  <a:lnTo>
                    <a:pt x="32080" y="32080"/>
                  </a:lnTo>
                  <a:lnTo>
                    <a:pt x="37166" y="26993"/>
                  </a:lnTo>
                  <a:lnTo>
                    <a:pt x="42700" y="22450"/>
                  </a:lnTo>
                  <a:lnTo>
                    <a:pt x="48682" y="18459"/>
                  </a:lnTo>
                  <a:lnTo>
                    <a:pt x="54663" y="14458"/>
                  </a:lnTo>
                  <a:lnTo>
                    <a:pt x="60969" y="11087"/>
                  </a:lnTo>
                  <a:lnTo>
                    <a:pt x="67617" y="8334"/>
                  </a:lnTo>
                  <a:lnTo>
                    <a:pt x="74266" y="5581"/>
                  </a:lnTo>
                  <a:lnTo>
                    <a:pt x="81114" y="3505"/>
                  </a:lnTo>
                  <a:lnTo>
                    <a:pt x="88163" y="2105"/>
                  </a:lnTo>
                  <a:lnTo>
                    <a:pt x="95221" y="704"/>
                  </a:lnTo>
                  <a:lnTo>
                    <a:pt x="102346" y="0"/>
                  </a:lnTo>
                  <a:lnTo>
                    <a:pt x="109537" y="0"/>
                  </a:lnTo>
                  <a:lnTo>
                    <a:pt x="2319337" y="0"/>
                  </a:lnTo>
                  <a:lnTo>
                    <a:pt x="2326576" y="0"/>
                  </a:lnTo>
                  <a:lnTo>
                    <a:pt x="2333625" y="704"/>
                  </a:lnTo>
                  <a:lnTo>
                    <a:pt x="2374201" y="14458"/>
                  </a:lnTo>
                  <a:lnTo>
                    <a:pt x="2380202" y="18459"/>
                  </a:lnTo>
                  <a:lnTo>
                    <a:pt x="2386203" y="22450"/>
                  </a:lnTo>
                  <a:lnTo>
                    <a:pt x="2391727" y="26993"/>
                  </a:lnTo>
                  <a:lnTo>
                    <a:pt x="2396775" y="32080"/>
                  </a:lnTo>
                  <a:lnTo>
                    <a:pt x="2401919" y="37166"/>
                  </a:lnTo>
                  <a:lnTo>
                    <a:pt x="2406396" y="42700"/>
                  </a:lnTo>
                  <a:lnTo>
                    <a:pt x="2410396" y="48682"/>
                  </a:lnTo>
                  <a:lnTo>
                    <a:pt x="2414397" y="54663"/>
                  </a:lnTo>
                  <a:lnTo>
                    <a:pt x="2417825" y="60969"/>
                  </a:lnTo>
                  <a:lnTo>
                    <a:pt x="2420492" y="67617"/>
                  </a:lnTo>
                  <a:lnTo>
                    <a:pt x="2423255" y="74266"/>
                  </a:lnTo>
                  <a:lnTo>
                    <a:pt x="2425350" y="81114"/>
                  </a:lnTo>
                  <a:lnTo>
                    <a:pt x="2426779" y="88163"/>
                  </a:lnTo>
                  <a:lnTo>
                    <a:pt x="2428208" y="95221"/>
                  </a:lnTo>
                  <a:lnTo>
                    <a:pt x="2428875" y="102346"/>
                  </a:lnTo>
                  <a:lnTo>
                    <a:pt x="2428875" y="109537"/>
                  </a:lnTo>
                  <a:lnTo>
                    <a:pt x="2428875" y="1262062"/>
                  </a:lnTo>
                  <a:lnTo>
                    <a:pt x="2428875" y="1269301"/>
                  </a:lnTo>
                  <a:lnTo>
                    <a:pt x="2428208" y="1276350"/>
                  </a:lnTo>
                  <a:lnTo>
                    <a:pt x="2426779" y="1283398"/>
                  </a:lnTo>
                  <a:lnTo>
                    <a:pt x="2425350" y="1290447"/>
                  </a:lnTo>
                  <a:lnTo>
                    <a:pt x="2423255" y="1297305"/>
                  </a:lnTo>
                  <a:lnTo>
                    <a:pt x="2420492" y="1303972"/>
                  </a:lnTo>
                  <a:lnTo>
                    <a:pt x="2417825" y="1310639"/>
                  </a:lnTo>
                  <a:lnTo>
                    <a:pt x="2414397" y="1316926"/>
                  </a:lnTo>
                  <a:lnTo>
                    <a:pt x="2410396" y="1322927"/>
                  </a:lnTo>
                  <a:lnTo>
                    <a:pt x="2406396" y="1328927"/>
                  </a:lnTo>
                  <a:lnTo>
                    <a:pt x="2401919" y="1334452"/>
                  </a:lnTo>
                  <a:lnTo>
                    <a:pt x="2396775" y="1339500"/>
                  </a:lnTo>
                  <a:lnTo>
                    <a:pt x="2391727" y="1344644"/>
                  </a:lnTo>
                  <a:lnTo>
                    <a:pt x="2386203" y="1349121"/>
                  </a:lnTo>
                  <a:lnTo>
                    <a:pt x="2380202" y="1353121"/>
                  </a:lnTo>
                  <a:lnTo>
                    <a:pt x="2374201" y="1357122"/>
                  </a:lnTo>
                  <a:lnTo>
                    <a:pt x="2367914" y="1360550"/>
                  </a:lnTo>
                  <a:lnTo>
                    <a:pt x="2361247" y="1363217"/>
                  </a:lnTo>
                  <a:lnTo>
                    <a:pt x="2354580" y="1365980"/>
                  </a:lnTo>
                  <a:lnTo>
                    <a:pt x="2347722" y="1368075"/>
                  </a:lnTo>
                  <a:lnTo>
                    <a:pt x="2340673" y="1369504"/>
                  </a:lnTo>
                  <a:lnTo>
                    <a:pt x="2333625" y="1370933"/>
                  </a:lnTo>
                  <a:lnTo>
                    <a:pt x="2326576" y="1371600"/>
                  </a:lnTo>
                  <a:lnTo>
                    <a:pt x="2319337" y="1371600"/>
                  </a:lnTo>
                  <a:lnTo>
                    <a:pt x="109537" y="1371600"/>
                  </a:lnTo>
                  <a:lnTo>
                    <a:pt x="102346" y="1371600"/>
                  </a:lnTo>
                  <a:lnTo>
                    <a:pt x="95221" y="1370933"/>
                  </a:lnTo>
                  <a:lnTo>
                    <a:pt x="88163" y="1369504"/>
                  </a:lnTo>
                  <a:lnTo>
                    <a:pt x="81114" y="1368075"/>
                  </a:lnTo>
                  <a:lnTo>
                    <a:pt x="74266" y="1365980"/>
                  </a:lnTo>
                  <a:lnTo>
                    <a:pt x="67617" y="1363217"/>
                  </a:lnTo>
                  <a:lnTo>
                    <a:pt x="60969" y="1360550"/>
                  </a:lnTo>
                  <a:lnTo>
                    <a:pt x="54663" y="1357122"/>
                  </a:lnTo>
                  <a:lnTo>
                    <a:pt x="48682" y="1353121"/>
                  </a:lnTo>
                  <a:lnTo>
                    <a:pt x="42700" y="1349121"/>
                  </a:lnTo>
                  <a:lnTo>
                    <a:pt x="37166" y="1344644"/>
                  </a:lnTo>
                  <a:lnTo>
                    <a:pt x="32080" y="1339500"/>
                  </a:lnTo>
                  <a:lnTo>
                    <a:pt x="26993" y="1334452"/>
                  </a:lnTo>
                  <a:lnTo>
                    <a:pt x="5581" y="1297305"/>
                  </a:lnTo>
                  <a:lnTo>
                    <a:pt x="0" y="1269301"/>
                  </a:lnTo>
                  <a:lnTo>
                    <a:pt x="0" y="126206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843484" y="2313170"/>
            <a:ext cx="782320" cy="1253490"/>
          </a:xfrm>
          <a:prstGeom prst="rect">
            <a:avLst/>
          </a:prstGeom>
        </p:spPr>
        <p:txBody>
          <a:bodyPr wrap="square" lIns="0" tIns="293370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2310"/>
              </a:spcBef>
            </a:pPr>
            <a:r>
              <a:rPr dirty="0" sz="4600" spc="-320" b="1">
                <a:solidFill>
                  <a:srgbClr val="093C61"/>
                </a:solidFill>
                <a:latin typeface="Arial"/>
                <a:cs typeface="Arial"/>
              </a:rPr>
              <a:t>10</a:t>
            </a:r>
            <a:endParaRPr sz="4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dirty="0" sz="1150" spc="-10" b="1">
                <a:solidFill>
                  <a:srgbClr val="4A6583"/>
                </a:solidFill>
                <a:latin typeface="Arial"/>
                <a:cs typeface="Arial"/>
              </a:rPr>
              <a:t>DATASETS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035470" y="4327128"/>
            <a:ext cx="812101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635">
              <a:lnSpc>
                <a:spcPct val="117600"/>
              </a:lnSpc>
              <a:spcBef>
                <a:spcPts val="95"/>
              </a:spcBef>
            </a:pPr>
            <a:r>
              <a:rPr dirty="0" sz="1650">
                <a:solidFill>
                  <a:srgbClr val="093C61"/>
                </a:solidFill>
                <a:latin typeface="Microsoft Sans Serif"/>
                <a:cs typeface="Microsoft Sans Serif"/>
              </a:rPr>
              <a:t>A</a:t>
            </a:r>
            <a:r>
              <a:rPr dirty="0" sz="165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93C61"/>
                </a:solidFill>
                <a:latin typeface="Microsoft Sans Serif"/>
                <a:cs typeface="Microsoft Sans Serif"/>
              </a:rPr>
              <a:t>high</a:t>
            </a:r>
            <a:r>
              <a:rPr dirty="0" sz="1700">
                <a:solidFill>
                  <a:srgbClr val="093C61"/>
                </a:solidFill>
                <a:latin typeface="Microsoft Sans Serif"/>
                <a:cs typeface="Microsoft Sans Serif"/>
              </a:rPr>
              <a:t>-</a:t>
            </a:r>
            <a:r>
              <a:rPr dirty="0" sz="1650" spc="-20">
                <a:solidFill>
                  <a:srgbClr val="093C61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16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093C61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16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5">
                <a:solidFill>
                  <a:srgbClr val="093C61"/>
                </a:solidFill>
                <a:latin typeface="Microsoft Sans Serif"/>
                <a:cs typeface="Microsoft Sans Serif"/>
              </a:rPr>
              <a:t>engine</a:t>
            </a:r>
            <a:r>
              <a:rPr dirty="0" sz="16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93C61"/>
                </a:solidFill>
                <a:latin typeface="Microsoft Sans Serif"/>
                <a:cs typeface="Microsoft Sans Serif"/>
              </a:rPr>
              <a:t>built</a:t>
            </a:r>
            <a:r>
              <a:rPr dirty="0" sz="16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93C61"/>
                </a:solidFill>
                <a:latin typeface="Microsoft Sans Serif"/>
                <a:cs typeface="Microsoft Sans Serif"/>
              </a:rPr>
              <a:t>to</a:t>
            </a:r>
            <a:r>
              <a:rPr dirty="0" sz="16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93C61"/>
                </a:solidFill>
                <a:latin typeface="Microsoft Sans Serif"/>
                <a:cs typeface="Microsoft Sans Serif"/>
              </a:rPr>
              <a:t>unify</a:t>
            </a:r>
            <a:r>
              <a:rPr dirty="0" sz="16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0">
                <a:solidFill>
                  <a:srgbClr val="093C61"/>
                </a:solidFill>
                <a:latin typeface="Microsoft Sans Serif"/>
                <a:cs typeface="Microsoft Sans Serif"/>
              </a:rPr>
              <a:t>fragmented</a:t>
            </a:r>
            <a:r>
              <a:rPr dirty="0" sz="16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5">
                <a:solidFill>
                  <a:srgbClr val="093C61"/>
                </a:solidFill>
                <a:latin typeface="Microsoft Sans Serif"/>
                <a:cs typeface="Microsoft Sans Serif"/>
              </a:rPr>
              <a:t>mutual</a:t>
            </a:r>
            <a:r>
              <a:rPr dirty="0" sz="165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93C61"/>
                </a:solidFill>
                <a:latin typeface="Microsoft Sans Serif"/>
                <a:cs typeface="Microsoft Sans Serif"/>
              </a:rPr>
              <a:t>fund</a:t>
            </a:r>
            <a:r>
              <a:rPr dirty="0" sz="165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5">
                <a:solidFill>
                  <a:srgbClr val="093C61"/>
                </a:solidFill>
                <a:latin typeface="Microsoft Sans Serif"/>
                <a:cs typeface="Microsoft Sans Serif"/>
              </a:rPr>
              <a:t>data</a:t>
            </a:r>
            <a:r>
              <a:rPr dirty="0" sz="1700" spc="-25">
                <a:solidFill>
                  <a:srgbClr val="093C61"/>
                </a:solidFill>
                <a:latin typeface="Microsoft Sans Serif"/>
                <a:cs typeface="Microsoft Sans Serif"/>
              </a:rPr>
              <a:t>,</a:t>
            </a:r>
            <a:r>
              <a:rPr dirty="0" sz="1700" spc="-4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093C61"/>
                </a:solidFill>
                <a:latin typeface="Microsoft Sans Serif"/>
                <a:cs typeface="Microsoft Sans Serif"/>
              </a:rPr>
              <a:t>compute </a:t>
            </a:r>
            <a:r>
              <a:rPr dirty="0" sz="1650" spc="-20">
                <a:solidFill>
                  <a:srgbClr val="093C61"/>
                </a:solidFill>
                <a:latin typeface="Microsoft Sans Serif"/>
                <a:cs typeface="Microsoft Sans Serif"/>
              </a:rPr>
              <a:t>complex</a:t>
            </a:r>
            <a:r>
              <a:rPr dirty="0" sz="1650" spc="-6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93C61"/>
                </a:solidFill>
                <a:latin typeface="Microsoft Sans Serif"/>
                <a:cs typeface="Microsoft Sans Serif"/>
              </a:rPr>
              <a:t>risk</a:t>
            </a:r>
            <a:r>
              <a:rPr dirty="0" sz="1650" spc="-5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093C61"/>
                </a:solidFill>
                <a:latin typeface="Microsoft Sans Serif"/>
                <a:cs typeface="Microsoft Sans Serif"/>
              </a:rPr>
              <a:t>metrics</a:t>
            </a:r>
            <a:r>
              <a:rPr dirty="0" sz="1700" spc="-10">
                <a:solidFill>
                  <a:srgbClr val="093C61"/>
                </a:solidFill>
                <a:latin typeface="Microsoft Sans Serif"/>
                <a:cs typeface="Microsoft Sans Serif"/>
              </a:rPr>
              <a:t>,</a:t>
            </a:r>
            <a:r>
              <a:rPr dirty="0" sz="1700" spc="-7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0">
                <a:solidFill>
                  <a:srgbClr val="093C61"/>
                </a:solidFill>
                <a:latin typeface="Microsoft Sans Serif"/>
                <a:cs typeface="Microsoft Sans Serif"/>
              </a:rPr>
              <a:t>and</a:t>
            </a:r>
            <a:r>
              <a:rPr dirty="0" sz="1650" spc="-6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093C61"/>
                </a:solidFill>
                <a:latin typeface="Microsoft Sans Serif"/>
                <a:cs typeface="Microsoft Sans Serif"/>
              </a:rPr>
              <a:t>provide</a:t>
            </a:r>
            <a:r>
              <a:rPr dirty="0" sz="1650" spc="-5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093C61"/>
                </a:solidFill>
                <a:latin typeface="Microsoft Sans Serif"/>
                <a:cs typeface="Microsoft Sans Serif"/>
              </a:rPr>
              <a:t>live</a:t>
            </a:r>
            <a:r>
              <a:rPr dirty="0" sz="1650" spc="-5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93C61"/>
                </a:solidFill>
                <a:latin typeface="Microsoft Sans Serif"/>
                <a:cs typeface="Microsoft Sans Serif"/>
              </a:rPr>
              <a:t>drill</a:t>
            </a:r>
            <a:r>
              <a:rPr dirty="0" sz="1700">
                <a:solidFill>
                  <a:srgbClr val="093C61"/>
                </a:solidFill>
                <a:latin typeface="Microsoft Sans Serif"/>
                <a:cs typeface="Microsoft Sans Serif"/>
              </a:rPr>
              <a:t>-</a:t>
            </a:r>
            <a:r>
              <a:rPr dirty="0" sz="1650">
                <a:solidFill>
                  <a:srgbClr val="093C61"/>
                </a:solidFill>
                <a:latin typeface="Microsoft Sans Serif"/>
                <a:cs typeface="Microsoft Sans Serif"/>
              </a:rPr>
              <a:t>down</a:t>
            </a:r>
            <a:r>
              <a:rPr dirty="0" sz="1650" spc="-6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0">
                <a:solidFill>
                  <a:srgbClr val="093C61"/>
                </a:solidFill>
                <a:latin typeface="Microsoft Sans Serif"/>
                <a:cs typeface="Microsoft Sans Serif"/>
              </a:rPr>
              <a:t>capabilities</a:t>
            </a:r>
            <a:r>
              <a:rPr dirty="0" sz="1650" spc="-5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93C61"/>
                </a:solidFill>
                <a:latin typeface="Microsoft Sans Serif"/>
                <a:cs typeface="Microsoft Sans Serif"/>
              </a:rPr>
              <a:t>for</a:t>
            </a:r>
            <a:r>
              <a:rPr dirty="0" sz="1650" spc="-6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093C61"/>
                </a:solidFill>
                <a:latin typeface="Microsoft Sans Serif"/>
                <a:cs typeface="Microsoft Sans Serif"/>
              </a:rPr>
              <a:t>retail</a:t>
            </a:r>
            <a:r>
              <a:rPr dirty="0" sz="1650" spc="-5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0">
                <a:solidFill>
                  <a:srgbClr val="093C61"/>
                </a:solidFill>
                <a:latin typeface="Microsoft Sans Serif"/>
                <a:cs typeface="Microsoft Sans Serif"/>
              </a:rPr>
              <a:t>investors</a:t>
            </a:r>
            <a:r>
              <a:rPr dirty="0" sz="1650" spc="-6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0">
                <a:solidFill>
                  <a:srgbClr val="093C61"/>
                </a:solidFill>
                <a:latin typeface="Microsoft Sans Serif"/>
                <a:cs typeface="Microsoft Sans Serif"/>
              </a:rPr>
              <a:t>and</a:t>
            </a:r>
            <a:r>
              <a:rPr dirty="0" sz="1650" spc="-5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0">
                <a:solidFill>
                  <a:srgbClr val="093C61"/>
                </a:solidFill>
                <a:latin typeface="Microsoft Sans Serif"/>
                <a:cs typeface="Microsoft Sans Serif"/>
              </a:rPr>
              <a:t>AMCs </a:t>
            </a:r>
            <a:r>
              <a:rPr dirty="0" sz="1650" spc="-10">
                <a:solidFill>
                  <a:srgbClr val="093C61"/>
                </a:solidFill>
                <a:latin typeface="Microsoft Sans Serif"/>
                <a:cs typeface="Microsoft Sans Serif"/>
              </a:rPr>
              <a:t>alike</a:t>
            </a:r>
            <a:r>
              <a:rPr dirty="0" sz="1700" spc="-10">
                <a:solidFill>
                  <a:srgbClr val="093C61"/>
                </a:solidFill>
                <a:latin typeface="Microsoft Sans Serif"/>
                <a:cs typeface="Microsoft Sans Serif"/>
              </a:rPr>
              <a:t>.</a:t>
            </a:r>
            <a:endParaRPr sz="1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531400"/>
            <a:ext cx="3773804" cy="492759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14"/>
              <a:t>THE</a:t>
            </a:r>
            <a:r>
              <a:rPr dirty="0" spc="-229"/>
              <a:t> </a:t>
            </a:r>
            <a:r>
              <a:rPr dirty="0" spc="-145"/>
              <a:t>ANALYTICS</a:t>
            </a:r>
            <a:r>
              <a:rPr dirty="0" spc="-140"/>
              <a:t> </a:t>
            </a:r>
            <a:r>
              <a:rPr dirty="0" spc="-100"/>
              <a:t>GAP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500" y="2581275"/>
            <a:ext cx="3524250" cy="2562225"/>
            <a:chOff x="571500" y="2581275"/>
            <a:chExt cx="3524250" cy="2562225"/>
          </a:xfrm>
        </p:grpSpPr>
        <p:sp>
          <p:nvSpPr>
            <p:cNvPr id="4" name="object 4" descr=""/>
            <p:cNvSpPr/>
            <p:nvPr/>
          </p:nvSpPr>
          <p:spPr>
            <a:xfrm>
              <a:off x="576262" y="2586037"/>
              <a:ext cx="3514725" cy="2552700"/>
            </a:xfrm>
            <a:custGeom>
              <a:avLst/>
              <a:gdLst/>
              <a:ahLst/>
              <a:cxnLst/>
              <a:rect l="l" t="t" r="r" b="b"/>
              <a:pathLst>
                <a:path w="3514725" h="2552700">
                  <a:moveTo>
                    <a:pt x="3367087" y="2552700"/>
                  </a:moveTo>
                  <a:lnTo>
                    <a:pt x="147637" y="2552700"/>
                  </a:lnTo>
                  <a:lnTo>
                    <a:pt x="140384" y="2552521"/>
                  </a:lnTo>
                  <a:lnTo>
                    <a:pt x="97907" y="2544069"/>
                  </a:lnTo>
                  <a:lnTo>
                    <a:pt x="59681" y="2523641"/>
                  </a:lnTo>
                  <a:lnTo>
                    <a:pt x="29058" y="2493021"/>
                  </a:lnTo>
                  <a:lnTo>
                    <a:pt x="8626" y="2454777"/>
                  </a:lnTo>
                  <a:lnTo>
                    <a:pt x="177" y="2412329"/>
                  </a:lnTo>
                  <a:lnTo>
                    <a:pt x="0" y="2405062"/>
                  </a:lnTo>
                  <a:lnTo>
                    <a:pt x="0" y="147637"/>
                  </a:lnTo>
                  <a:lnTo>
                    <a:pt x="6355" y="104798"/>
                  </a:lnTo>
                  <a:lnTo>
                    <a:pt x="24881" y="65627"/>
                  </a:lnTo>
                  <a:lnTo>
                    <a:pt x="53975" y="33516"/>
                  </a:lnTo>
                  <a:lnTo>
                    <a:pt x="91139" y="11239"/>
                  </a:lnTo>
                  <a:lnTo>
                    <a:pt x="133166" y="714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44" y="6369"/>
                  </a:lnTo>
                  <a:lnTo>
                    <a:pt x="3449107" y="24860"/>
                  </a:lnTo>
                  <a:lnTo>
                    <a:pt x="3481213" y="53971"/>
                  </a:lnTo>
                  <a:lnTo>
                    <a:pt x="3503485" y="91154"/>
                  </a:lnTo>
                  <a:lnTo>
                    <a:pt x="3514016" y="133147"/>
                  </a:lnTo>
                  <a:lnTo>
                    <a:pt x="3514725" y="147637"/>
                  </a:lnTo>
                  <a:lnTo>
                    <a:pt x="3514725" y="2405062"/>
                  </a:lnTo>
                  <a:lnTo>
                    <a:pt x="3508371" y="2447901"/>
                  </a:lnTo>
                  <a:lnTo>
                    <a:pt x="3489845" y="2487072"/>
                  </a:lnTo>
                  <a:lnTo>
                    <a:pt x="3460748" y="2519183"/>
                  </a:lnTo>
                  <a:lnTo>
                    <a:pt x="3423589" y="2541460"/>
                  </a:lnTo>
                  <a:lnTo>
                    <a:pt x="3381560" y="2551985"/>
                  </a:lnTo>
                  <a:lnTo>
                    <a:pt x="3367087" y="255270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6262" y="2586037"/>
              <a:ext cx="3514725" cy="2552700"/>
            </a:xfrm>
            <a:custGeom>
              <a:avLst/>
              <a:gdLst/>
              <a:ahLst/>
              <a:cxnLst/>
              <a:rect l="l" t="t" r="r" b="b"/>
              <a:pathLst>
                <a:path w="3514725" h="2552700">
                  <a:moveTo>
                    <a:pt x="0" y="2405062"/>
                  </a:moveTo>
                  <a:lnTo>
                    <a:pt x="0" y="147637"/>
                  </a:lnTo>
                  <a:lnTo>
                    <a:pt x="177" y="140370"/>
                  </a:lnTo>
                  <a:lnTo>
                    <a:pt x="8626" y="97922"/>
                  </a:lnTo>
                  <a:lnTo>
                    <a:pt x="29058" y="59678"/>
                  </a:lnTo>
                  <a:lnTo>
                    <a:pt x="59681" y="29058"/>
                  </a:lnTo>
                  <a:lnTo>
                    <a:pt x="97907" y="8630"/>
                  </a:lnTo>
                  <a:lnTo>
                    <a:pt x="140384" y="178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44" y="6369"/>
                  </a:lnTo>
                  <a:lnTo>
                    <a:pt x="3449107" y="24860"/>
                  </a:lnTo>
                  <a:lnTo>
                    <a:pt x="3481213" y="53971"/>
                  </a:lnTo>
                  <a:lnTo>
                    <a:pt x="3503485" y="91154"/>
                  </a:lnTo>
                  <a:lnTo>
                    <a:pt x="3514016" y="133147"/>
                  </a:lnTo>
                  <a:lnTo>
                    <a:pt x="3514725" y="147637"/>
                  </a:lnTo>
                  <a:lnTo>
                    <a:pt x="3514725" y="2405062"/>
                  </a:lnTo>
                  <a:lnTo>
                    <a:pt x="3508371" y="2447901"/>
                  </a:lnTo>
                  <a:lnTo>
                    <a:pt x="3489845" y="2487072"/>
                  </a:lnTo>
                  <a:lnTo>
                    <a:pt x="3460748" y="2519183"/>
                  </a:lnTo>
                  <a:lnTo>
                    <a:pt x="3423589" y="2541460"/>
                  </a:lnTo>
                  <a:lnTo>
                    <a:pt x="3381560" y="2551985"/>
                  </a:lnTo>
                  <a:lnTo>
                    <a:pt x="3367087" y="2552700"/>
                  </a:lnTo>
                  <a:lnTo>
                    <a:pt x="147637" y="2552700"/>
                  </a:lnTo>
                  <a:lnTo>
                    <a:pt x="104780" y="2546330"/>
                  </a:lnTo>
                  <a:lnTo>
                    <a:pt x="65613" y="2527839"/>
                  </a:lnTo>
                  <a:lnTo>
                    <a:pt x="33510" y="2498728"/>
                  </a:lnTo>
                  <a:lnTo>
                    <a:pt x="11238" y="2461545"/>
                  </a:lnTo>
                  <a:lnTo>
                    <a:pt x="709" y="2419552"/>
                  </a:lnTo>
                  <a:lnTo>
                    <a:pt x="0" y="240506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6937" y="2867025"/>
              <a:ext cx="333375" cy="38100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940400" y="3281208"/>
            <a:ext cx="2786380" cy="131318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85"/>
              </a:spcBef>
            </a:pPr>
            <a:r>
              <a:rPr dirty="0" sz="1800" spc="-25" b="1">
                <a:solidFill>
                  <a:srgbClr val="093C61"/>
                </a:solidFill>
                <a:latin typeface="Gill Sans MT"/>
                <a:cs typeface="Gill Sans MT"/>
              </a:rPr>
              <a:t>Fragmentation</a:t>
            </a:r>
            <a:endParaRPr sz="1800">
              <a:latin typeface="Gill Sans MT"/>
              <a:cs typeface="Gill Sans MT"/>
            </a:endParaRPr>
          </a:p>
          <a:p>
            <a:pPr algn="ctr" marL="12700" marR="5080">
              <a:lnSpc>
                <a:spcPct val="120800"/>
              </a:lnSpc>
              <a:spcBef>
                <a:spcPts val="470"/>
              </a:spcBef>
            </a:pPr>
            <a:r>
              <a:rPr dirty="0" sz="1500" spc="-120">
                <a:solidFill>
                  <a:srgbClr val="4A6583"/>
                </a:solidFill>
                <a:latin typeface="Microsoft Sans Serif"/>
                <a:cs typeface="Microsoft Sans Serif"/>
              </a:rPr>
              <a:t>NAV</a:t>
            </a:r>
            <a:r>
              <a:rPr dirty="0" sz="1450" spc="-120">
                <a:solidFill>
                  <a:srgbClr val="4A6583"/>
                </a:solidFill>
                <a:latin typeface="Microsoft Sans Serif"/>
                <a:cs typeface="Microsoft Sans Serif"/>
              </a:rPr>
              <a:t>,</a:t>
            </a:r>
            <a:r>
              <a:rPr dirty="0" sz="1450" spc="-1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55">
                <a:solidFill>
                  <a:srgbClr val="4A6583"/>
                </a:solidFill>
                <a:latin typeface="Microsoft Sans Serif"/>
                <a:cs typeface="Microsoft Sans Serif"/>
              </a:rPr>
              <a:t>AUM</a:t>
            </a:r>
            <a:r>
              <a:rPr dirty="0" sz="1450" spc="-55">
                <a:solidFill>
                  <a:srgbClr val="4A6583"/>
                </a:solidFill>
                <a:latin typeface="Microsoft Sans Serif"/>
                <a:cs typeface="Microsoft Sans Serif"/>
              </a:rPr>
              <a:t>,</a:t>
            </a:r>
            <a:r>
              <a:rPr dirty="0" sz="145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20">
                <a:solidFill>
                  <a:srgbClr val="4A6583"/>
                </a:solidFill>
                <a:latin typeface="Microsoft Sans Serif"/>
                <a:cs typeface="Microsoft Sans Serif"/>
              </a:rPr>
              <a:t>SIP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data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scattered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across</a:t>
            </a:r>
            <a:r>
              <a:rPr dirty="0" sz="1500" spc="-70">
                <a:solidFill>
                  <a:srgbClr val="4A6583"/>
                </a:solidFill>
                <a:latin typeface="Microsoft Sans Serif"/>
                <a:cs typeface="Microsoft Sans Serif"/>
              </a:rPr>
              <a:t> AMFI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in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disparate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formats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with</a:t>
            </a:r>
            <a:r>
              <a:rPr dirty="0" sz="1500" spc="-6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no</a:t>
            </a:r>
            <a:r>
              <a:rPr dirty="0" sz="1500" spc="-6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unified</a:t>
            </a:r>
            <a:r>
              <a:rPr dirty="0" sz="1500" spc="-6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repository</a:t>
            </a:r>
            <a:r>
              <a:rPr dirty="0" sz="1450" spc="-10">
                <a:solidFill>
                  <a:srgbClr val="4A6583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333875" y="2581275"/>
            <a:ext cx="3524250" cy="2562225"/>
            <a:chOff x="4333875" y="2581275"/>
            <a:chExt cx="3524250" cy="2562225"/>
          </a:xfrm>
        </p:grpSpPr>
        <p:sp>
          <p:nvSpPr>
            <p:cNvPr id="9" name="object 9" descr=""/>
            <p:cNvSpPr/>
            <p:nvPr/>
          </p:nvSpPr>
          <p:spPr>
            <a:xfrm>
              <a:off x="4338637" y="2586037"/>
              <a:ext cx="3514725" cy="2552700"/>
            </a:xfrm>
            <a:custGeom>
              <a:avLst/>
              <a:gdLst/>
              <a:ahLst/>
              <a:cxnLst/>
              <a:rect l="l" t="t" r="r" b="b"/>
              <a:pathLst>
                <a:path w="3514725" h="2552700">
                  <a:moveTo>
                    <a:pt x="3367087" y="2552700"/>
                  </a:moveTo>
                  <a:lnTo>
                    <a:pt x="147637" y="2552700"/>
                  </a:lnTo>
                  <a:lnTo>
                    <a:pt x="140383" y="2552521"/>
                  </a:lnTo>
                  <a:lnTo>
                    <a:pt x="97907" y="2544069"/>
                  </a:lnTo>
                  <a:lnTo>
                    <a:pt x="59681" y="2523641"/>
                  </a:lnTo>
                  <a:lnTo>
                    <a:pt x="29058" y="2493021"/>
                  </a:lnTo>
                  <a:lnTo>
                    <a:pt x="8624" y="2454777"/>
                  </a:lnTo>
                  <a:lnTo>
                    <a:pt x="176" y="2412329"/>
                  </a:lnTo>
                  <a:lnTo>
                    <a:pt x="0" y="2405062"/>
                  </a:lnTo>
                  <a:lnTo>
                    <a:pt x="0" y="147637"/>
                  </a:lnTo>
                  <a:lnTo>
                    <a:pt x="6353" y="104798"/>
                  </a:lnTo>
                  <a:lnTo>
                    <a:pt x="24879" y="65627"/>
                  </a:lnTo>
                  <a:lnTo>
                    <a:pt x="53973" y="33516"/>
                  </a:lnTo>
                  <a:lnTo>
                    <a:pt x="91135" y="11239"/>
                  </a:lnTo>
                  <a:lnTo>
                    <a:pt x="133164" y="714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42" y="6369"/>
                  </a:lnTo>
                  <a:lnTo>
                    <a:pt x="3449107" y="24860"/>
                  </a:lnTo>
                  <a:lnTo>
                    <a:pt x="3481213" y="53971"/>
                  </a:lnTo>
                  <a:lnTo>
                    <a:pt x="3503485" y="91154"/>
                  </a:lnTo>
                  <a:lnTo>
                    <a:pt x="3514016" y="133147"/>
                  </a:lnTo>
                  <a:lnTo>
                    <a:pt x="3514725" y="147637"/>
                  </a:lnTo>
                  <a:lnTo>
                    <a:pt x="3514725" y="2405062"/>
                  </a:lnTo>
                  <a:lnTo>
                    <a:pt x="3508371" y="2447901"/>
                  </a:lnTo>
                  <a:lnTo>
                    <a:pt x="3489845" y="2487072"/>
                  </a:lnTo>
                  <a:lnTo>
                    <a:pt x="3460744" y="2519183"/>
                  </a:lnTo>
                  <a:lnTo>
                    <a:pt x="3423580" y="2541460"/>
                  </a:lnTo>
                  <a:lnTo>
                    <a:pt x="3381560" y="2551985"/>
                  </a:lnTo>
                  <a:lnTo>
                    <a:pt x="3367087" y="255270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338637" y="2586037"/>
              <a:ext cx="3514725" cy="2552700"/>
            </a:xfrm>
            <a:custGeom>
              <a:avLst/>
              <a:gdLst/>
              <a:ahLst/>
              <a:cxnLst/>
              <a:rect l="l" t="t" r="r" b="b"/>
              <a:pathLst>
                <a:path w="3514725" h="2552700">
                  <a:moveTo>
                    <a:pt x="0" y="2405062"/>
                  </a:moveTo>
                  <a:lnTo>
                    <a:pt x="0" y="147637"/>
                  </a:lnTo>
                  <a:lnTo>
                    <a:pt x="176" y="140370"/>
                  </a:lnTo>
                  <a:lnTo>
                    <a:pt x="8624" y="97922"/>
                  </a:lnTo>
                  <a:lnTo>
                    <a:pt x="29058" y="59678"/>
                  </a:lnTo>
                  <a:lnTo>
                    <a:pt x="59681" y="29058"/>
                  </a:lnTo>
                  <a:lnTo>
                    <a:pt x="97907" y="8630"/>
                  </a:lnTo>
                  <a:lnTo>
                    <a:pt x="140383" y="178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42" y="6369"/>
                  </a:lnTo>
                  <a:lnTo>
                    <a:pt x="3449107" y="24860"/>
                  </a:lnTo>
                  <a:lnTo>
                    <a:pt x="3481213" y="53971"/>
                  </a:lnTo>
                  <a:lnTo>
                    <a:pt x="3503485" y="91154"/>
                  </a:lnTo>
                  <a:lnTo>
                    <a:pt x="3514016" y="133147"/>
                  </a:lnTo>
                  <a:lnTo>
                    <a:pt x="3514725" y="147637"/>
                  </a:lnTo>
                  <a:lnTo>
                    <a:pt x="3514725" y="2405062"/>
                  </a:lnTo>
                  <a:lnTo>
                    <a:pt x="3508371" y="2447901"/>
                  </a:lnTo>
                  <a:lnTo>
                    <a:pt x="3489845" y="2487072"/>
                  </a:lnTo>
                  <a:lnTo>
                    <a:pt x="3460744" y="2519183"/>
                  </a:lnTo>
                  <a:lnTo>
                    <a:pt x="3423580" y="2541460"/>
                  </a:lnTo>
                  <a:lnTo>
                    <a:pt x="3381560" y="2551985"/>
                  </a:lnTo>
                  <a:lnTo>
                    <a:pt x="3367087" y="2552700"/>
                  </a:lnTo>
                  <a:lnTo>
                    <a:pt x="147637" y="2552700"/>
                  </a:lnTo>
                  <a:lnTo>
                    <a:pt x="104780" y="2546330"/>
                  </a:lnTo>
                  <a:lnTo>
                    <a:pt x="65617" y="2527839"/>
                  </a:lnTo>
                  <a:lnTo>
                    <a:pt x="33511" y="2498728"/>
                  </a:lnTo>
                  <a:lnTo>
                    <a:pt x="11239" y="2461545"/>
                  </a:lnTo>
                  <a:lnTo>
                    <a:pt x="708" y="2419552"/>
                  </a:lnTo>
                  <a:lnTo>
                    <a:pt x="0" y="240506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5500" y="2889250"/>
              <a:ext cx="381000" cy="33655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4575521" y="3281208"/>
            <a:ext cx="3041015" cy="131318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821690">
              <a:lnSpc>
                <a:spcPct val="100000"/>
              </a:lnSpc>
              <a:spcBef>
                <a:spcPts val="1085"/>
              </a:spcBef>
            </a:pPr>
            <a:r>
              <a:rPr dirty="0" sz="1800" spc="-30" b="1">
                <a:solidFill>
                  <a:srgbClr val="093C61"/>
                </a:solidFill>
                <a:latin typeface="Gill Sans MT"/>
                <a:cs typeface="Gill Sans MT"/>
              </a:rPr>
              <a:t>Benchmarking</a:t>
            </a:r>
            <a:endParaRPr sz="1800">
              <a:latin typeface="Gill Sans MT"/>
              <a:cs typeface="Gill Sans MT"/>
            </a:endParaRPr>
          </a:p>
          <a:p>
            <a:pPr algn="just" marL="12700" marR="5080" indent="92710">
              <a:lnSpc>
                <a:spcPct val="120800"/>
              </a:lnSpc>
              <a:spcBef>
                <a:spcPts val="470"/>
              </a:spcBef>
            </a:pPr>
            <a:r>
              <a:rPr dirty="0" sz="1500" spc="-70">
                <a:solidFill>
                  <a:srgbClr val="4A6583"/>
                </a:solidFill>
                <a:latin typeface="Microsoft Sans Serif"/>
                <a:cs typeface="Microsoft Sans Serif"/>
              </a:rPr>
              <a:t>Retail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investors</a:t>
            </a:r>
            <a:r>
              <a:rPr dirty="0" sz="1500" spc="-6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lack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simple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tools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to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compare</a:t>
            </a:r>
            <a:r>
              <a:rPr dirty="0" sz="1500" spc="-4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fund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1500" spc="-4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against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Nifty</a:t>
            </a:r>
            <a:r>
              <a:rPr dirty="0" sz="1500" spc="-7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A6583"/>
                </a:solidFill>
                <a:latin typeface="Microsoft Sans Serif"/>
                <a:cs typeface="Microsoft Sans Serif"/>
              </a:rPr>
              <a:t>50/100</a:t>
            </a:r>
            <a:r>
              <a:rPr dirty="0" sz="145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on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90">
                <a:solidFill>
                  <a:srgbClr val="4A6583"/>
                </a:solidFill>
                <a:latin typeface="Microsoft Sans Serif"/>
                <a:cs typeface="Microsoft Sans Serif"/>
              </a:rPr>
              <a:t>a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risk</a:t>
            </a:r>
            <a:r>
              <a:rPr dirty="0" sz="1450">
                <a:solidFill>
                  <a:srgbClr val="4A6583"/>
                </a:solidFill>
                <a:latin typeface="Microsoft Sans Serif"/>
                <a:cs typeface="Microsoft Sans Serif"/>
              </a:rPr>
              <a:t>-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adjusted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basis</a:t>
            </a:r>
            <a:r>
              <a:rPr dirty="0" sz="1450" spc="-30">
                <a:solidFill>
                  <a:srgbClr val="4A6583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096250" y="2581275"/>
            <a:ext cx="3524250" cy="2562225"/>
            <a:chOff x="8096250" y="2581275"/>
            <a:chExt cx="3524250" cy="2562225"/>
          </a:xfrm>
        </p:grpSpPr>
        <p:sp>
          <p:nvSpPr>
            <p:cNvPr id="14" name="object 14" descr=""/>
            <p:cNvSpPr/>
            <p:nvPr/>
          </p:nvSpPr>
          <p:spPr>
            <a:xfrm>
              <a:off x="8101012" y="2586037"/>
              <a:ext cx="3514725" cy="2552700"/>
            </a:xfrm>
            <a:custGeom>
              <a:avLst/>
              <a:gdLst/>
              <a:ahLst/>
              <a:cxnLst/>
              <a:rect l="l" t="t" r="r" b="b"/>
              <a:pathLst>
                <a:path w="3514725" h="2552700">
                  <a:moveTo>
                    <a:pt x="3367087" y="2552700"/>
                  </a:moveTo>
                  <a:lnTo>
                    <a:pt x="147637" y="2552700"/>
                  </a:lnTo>
                  <a:lnTo>
                    <a:pt x="140383" y="2552521"/>
                  </a:lnTo>
                  <a:lnTo>
                    <a:pt x="97903" y="2544069"/>
                  </a:lnTo>
                  <a:lnTo>
                    <a:pt x="59681" y="2523641"/>
                  </a:lnTo>
                  <a:lnTo>
                    <a:pt x="29058" y="2493021"/>
                  </a:lnTo>
                  <a:lnTo>
                    <a:pt x="8624" y="2454777"/>
                  </a:lnTo>
                  <a:lnTo>
                    <a:pt x="176" y="2412329"/>
                  </a:lnTo>
                  <a:lnTo>
                    <a:pt x="0" y="2405062"/>
                  </a:lnTo>
                  <a:lnTo>
                    <a:pt x="0" y="147637"/>
                  </a:lnTo>
                  <a:lnTo>
                    <a:pt x="6353" y="104798"/>
                  </a:lnTo>
                  <a:lnTo>
                    <a:pt x="24879" y="65627"/>
                  </a:lnTo>
                  <a:lnTo>
                    <a:pt x="53973" y="33516"/>
                  </a:lnTo>
                  <a:lnTo>
                    <a:pt x="91135" y="11239"/>
                  </a:lnTo>
                  <a:lnTo>
                    <a:pt x="133164" y="714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26" y="6369"/>
                  </a:lnTo>
                  <a:lnTo>
                    <a:pt x="3449097" y="24860"/>
                  </a:lnTo>
                  <a:lnTo>
                    <a:pt x="3481208" y="53971"/>
                  </a:lnTo>
                  <a:lnTo>
                    <a:pt x="3503485" y="91154"/>
                  </a:lnTo>
                  <a:lnTo>
                    <a:pt x="3514010" y="133147"/>
                  </a:lnTo>
                  <a:lnTo>
                    <a:pt x="3514725" y="147637"/>
                  </a:lnTo>
                  <a:lnTo>
                    <a:pt x="3514725" y="2405062"/>
                  </a:lnTo>
                  <a:lnTo>
                    <a:pt x="3508355" y="2447901"/>
                  </a:lnTo>
                  <a:lnTo>
                    <a:pt x="3489864" y="2487072"/>
                  </a:lnTo>
                  <a:lnTo>
                    <a:pt x="3460753" y="2519183"/>
                  </a:lnTo>
                  <a:lnTo>
                    <a:pt x="3423570" y="2541460"/>
                  </a:lnTo>
                  <a:lnTo>
                    <a:pt x="3381577" y="2551985"/>
                  </a:lnTo>
                  <a:lnTo>
                    <a:pt x="3367087" y="255270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101012" y="2586037"/>
              <a:ext cx="3514725" cy="2552700"/>
            </a:xfrm>
            <a:custGeom>
              <a:avLst/>
              <a:gdLst/>
              <a:ahLst/>
              <a:cxnLst/>
              <a:rect l="l" t="t" r="r" b="b"/>
              <a:pathLst>
                <a:path w="3514725" h="2552700">
                  <a:moveTo>
                    <a:pt x="0" y="2405062"/>
                  </a:moveTo>
                  <a:lnTo>
                    <a:pt x="0" y="147637"/>
                  </a:lnTo>
                  <a:lnTo>
                    <a:pt x="176" y="140370"/>
                  </a:lnTo>
                  <a:lnTo>
                    <a:pt x="8624" y="97922"/>
                  </a:lnTo>
                  <a:lnTo>
                    <a:pt x="29058" y="59678"/>
                  </a:lnTo>
                  <a:lnTo>
                    <a:pt x="59681" y="29058"/>
                  </a:lnTo>
                  <a:lnTo>
                    <a:pt x="97907" y="8630"/>
                  </a:lnTo>
                  <a:lnTo>
                    <a:pt x="140383" y="178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26" y="6369"/>
                  </a:lnTo>
                  <a:lnTo>
                    <a:pt x="3449097" y="24860"/>
                  </a:lnTo>
                  <a:lnTo>
                    <a:pt x="3481208" y="53971"/>
                  </a:lnTo>
                  <a:lnTo>
                    <a:pt x="3503485" y="91154"/>
                  </a:lnTo>
                  <a:lnTo>
                    <a:pt x="3514010" y="133147"/>
                  </a:lnTo>
                  <a:lnTo>
                    <a:pt x="3514725" y="147637"/>
                  </a:lnTo>
                  <a:lnTo>
                    <a:pt x="3514725" y="2405062"/>
                  </a:lnTo>
                  <a:lnTo>
                    <a:pt x="3508355" y="2447901"/>
                  </a:lnTo>
                  <a:lnTo>
                    <a:pt x="3489864" y="2487072"/>
                  </a:lnTo>
                  <a:lnTo>
                    <a:pt x="3460753" y="2519183"/>
                  </a:lnTo>
                  <a:lnTo>
                    <a:pt x="3423570" y="2541460"/>
                  </a:lnTo>
                  <a:lnTo>
                    <a:pt x="3381577" y="2551985"/>
                  </a:lnTo>
                  <a:lnTo>
                    <a:pt x="3367087" y="2552700"/>
                  </a:lnTo>
                  <a:lnTo>
                    <a:pt x="147637" y="2552700"/>
                  </a:lnTo>
                  <a:lnTo>
                    <a:pt x="104777" y="2546330"/>
                  </a:lnTo>
                  <a:lnTo>
                    <a:pt x="65617" y="2527839"/>
                  </a:lnTo>
                  <a:lnTo>
                    <a:pt x="33511" y="2498728"/>
                  </a:lnTo>
                  <a:lnTo>
                    <a:pt x="11239" y="2461545"/>
                  </a:lnTo>
                  <a:lnTo>
                    <a:pt x="708" y="2419552"/>
                  </a:lnTo>
                  <a:lnTo>
                    <a:pt x="0" y="240506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20250" y="2867025"/>
              <a:ext cx="466725" cy="38100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8426602" y="3281208"/>
            <a:ext cx="2863850" cy="157988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85"/>
              </a:spcBef>
            </a:pPr>
            <a:r>
              <a:rPr dirty="0" sz="1800" spc="-80" b="1">
                <a:solidFill>
                  <a:srgbClr val="093C61"/>
                </a:solidFill>
                <a:latin typeface="Gill Sans MT"/>
                <a:cs typeface="Gill Sans MT"/>
              </a:rPr>
              <a:t>Static</a:t>
            </a:r>
            <a:r>
              <a:rPr dirty="0" sz="1800" spc="-160" b="1">
                <a:solidFill>
                  <a:srgbClr val="093C61"/>
                </a:solidFill>
                <a:latin typeface="Gill Sans MT"/>
                <a:cs typeface="Gill Sans MT"/>
              </a:rPr>
              <a:t> </a:t>
            </a:r>
            <a:r>
              <a:rPr dirty="0" sz="1800" spc="-10" b="1">
                <a:solidFill>
                  <a:srgbClr val="093C61"/>
                </a:solidFill>
                <a:latin typeface="Gill Sans MT"/>
                <a:cs typeface="Gill Sans MT"/>
              </a:rPr>
              <a:t>Reporting</a:t>
            </a:r>
            <a:endParaRPr sz="1800">
              <a:latin typeface="Gill Sans MT"/>
              <a:cs typeface="Gill Sans MT"/>
            </a:endParaRPr>
          </a:p>
          <a:p>
            <a:pPr algn="ctr" marL="12700" marR="5080">
              <a:lnSpc>
                <a:spcPct val="119400"/>
              </a:lnSpc>
              <a:spcBef>
                <a:spcPts val="495"/>
              </a:spcBef>
            </a:pP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Current</a:t>
            </a:r>
            <a:r>
              <a:rPr dirty="0" sz="1500" spc="-5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monthly</a:t>
            </a:r>
            <a:r>
              <a:rPr dirty="0" sz="1500" spc="-5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reports</a:t>
            </a:r>
            <a:r>
              <a:rPr dirty="0" sz="1500" spc="-5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40">
                <a:solidFill>
                  <a:srgbClr val="4A6583"/>
                </a:solidFill>
                <a:latin typeface="Microsoft Sans Serif"/>
                <a:cs typeface="Microsoft Sans Serif"/>
              </a:rPr>
              <a:t>are</a:t>
            </a:r>
            <a:r>
              <a:rPr dirty="0" sz="1500" spc="-5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static </a:t>
            </a:r>
            <a:r>
              <a:rPr dirty="0" sz="1500" spc="-90">
                <a:solidFill>
                  <a:srgbClr val="4A6583"/>
                </a:solidFill>
                <a:latin typeface="Microsoft Sans Serif"/>
                <a:cs typeface="Microsoft Sans Serif"/>
              </a:rPr>
              <a:t>PDFs</a:t>
            </a:r>
            <a:r>
              <a:rPr dirty="0" sz="1450" spc="-90">
                <a:solidFill>
                  <a:srgbClr val="4A6583"/>
                </a:solidFill>
                <a:latin typeface="Microsoft Sans Serif"/>
                <a:cs typeface="Microsoft Sans Serif"/>
              </a:rPr>
              <a:t>,</a:t>
            </a:r>
            <a:r>
              <a:rPr dirty="0" sz="1450" spc="-1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offering</a:t>
            </a:r>
            <a:r>
              <a:rPr dirty="0" sz="1500" spc="-8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no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ability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for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live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cohort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analysis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or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geographic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drill</a:t>
            </a:r>
            <a:r>
              <a:rPr dirty="0" sz="1450" spc="-10">
                <a:solidFill>
                  <a:srgbClr val="4A6583"/>
                </a:solidFill>
                <a:latin typeface="Microsoft Sans Serif"/>
                <a:cs typeface="Microsoft Sans Serif"/>
              </a:rPr>
              <a:t>-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downs</a:t>
            </a:r>
            <a:r>
              <a:rPr dirty="0" sz="1450" spc="-10">
                <a:solidFill>
                  <a:srgbClr val="4A6583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220"/>
              <a:t>SYSTEM</a:t>
            </a:r>
            <a:r>
              <a:rPr dirty="0" spc="-210"/>
              <a:t> </a:t>
            </a:r>
            <a:r>
              <a:rPr dirty="0" spc="-135"/>
              <a:t>ARCHITECTURE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500" y="3667125"/>
            <a:ext cx="11049000" cy="285750"/>
            <a:chOff x="571500" y="3667125"/>
            <a:chExt cx="11049000" cy="285750"/>
          </a:xfrm>
        </p:grpSpPr>
        <p:sp>
          <p:nvSpPr>
            <p:cNvPr id="4" name="object 4" descr=""/>
            <p:cNvSpPr/>
            <p:nvPr/>
          </p:nvSpPr>
          <p:spPr>
            <a:xfrm>
              <a:off x="571500" y="3667125"/>
              <a:ext cx="11049000" cy="38100"/>
            </a:xfrm>
            <a:custGeom>
              <a:avLst/>
              <a:gdLst/>
              <a:ahLst/>
              <a:cxnLst/>
              <a:rect l="l" t="t" r="r" b="b"/>
              <a:pathLst>
                <a:path w="11049000" h="38100">
                  <a:moveTo>
                    <a:pt x="11049000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11049000" y="0"/>
                  </a:lnTo>
                  <a:lnTo>
                    <a:pt x="11049000" y="38100"/>
                  </a:lnTo>
                  <a:close/>
                </a:path>
              </a:pathLst>
            </a:custGeom>
            <a:solidFill>
              <a:srgbClr val="EDF1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889" y="3724275"/>
              <a:ext cx="228420" cy="2286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4839" y="3724275"/>
              <a:ext cx="228420" cy="2286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1789" y="3724275"/>
              <a:ext cx="228420" cy="228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48739" y="3724275"/>
              <a:ext cx="228420" cy="2286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15693" y="3724275"/>
              <a:ext cx="228414" cy="228600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163637" y="3308071"/>
            <a:ext cx="80454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95" b="1">
                <a:solidFill>
                  <a:srgbClr val="093C61"/>
                </a:solidFill>
                <a:latin typeface="Arial"/>
                <a:cs typeface="Arial"/>
              </a:rPr>
              <a:t>EXTRACT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4815" y="4076787"/>
            <a:ext cx="194246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5590" marR="5080" indent="-263525">
              <a:lnSpc>
                <a:spcPct val="120000"/>
              </a:lnSpc>
              <a:spcBef>
                <a:spcPts val="100"/>
              </a:spcBef>
            </a:pPr>
            <a:r>
              <a:rPr dirty="0" sz="1250" spc="-60">
                <a:solidFill>
                  <a:srgbClr val="4A6583"/>
                </a:solidFill>
                <a:latin typeface="Microsoft Sans Serif"/>
                <a:cs typeface="Microsoft Sans Serif"/>
              </a:rPr>
              <a:t>AMFI</a:t>
            </a:r>
            <a:r>
              <a:rPr dirty="0" sz="125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60">
                <a:solidFill>
                  <a:srgbClr val="4A6583"/>
                </a:solidFill>
                <a:latin typeface="Microsoft Sans Serif"/>
                <a:cs typeface="Microsoft Sans Serif"/>
              </a:rPr>
              <a:t>TXT</a:t>
            </a:r>
            <a:r>
              <a:rPr dirty="0" sz="1200" spc="-60">
                <a:solidFill>
                  <a:srgbClr val="4A6583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0">
                <a:solidFill>
                  <a:srgbClr val="4A6583"/>
                </a:solidFill>
                <a:latin typeface="Microsoft Sans Serif"/>
                <a:cs typeface="Microsoft Sans Serif"/>
              </a:rPr>
              <a:t>mfapi</a:t>
            </a:r>
            <a:r>
              <a:rPr dirty="0" sz="1200" spc="-20">
                <a:solidFill>
                  <a:srgbClr val="4A6583"/>
                </a:solidFill>
                <a:latin typeface="Microsoft Sans Serif"/>
                <a:cs typeface="Microsoft Sans Serif"/>
              </a:rPr>
              <a:t>.</a:t>
            </a:r>
            <a:r>
              <a:rPr dirty="0" sz="1250" spc="-20">
                <a:solidFill>
                  <a:srgbClr val="4A6583"/>
                </a:solidFill>
                <a:latin typeface="Microsoft Sans Serif"/>
                <a:cs typeface="Microsoft Sans Serif"/>
              </a:rPr>
              <a:t>in </a:t>
            </a:r>
            <a:r>
              <a:rPr dirty="0" sz="1250" spc="-60">
                <a:solidFill>
                  <a:srgbClr val="4A6583"/>
                </a:solidFill>
                <a:latin typeface="Microsoft Sans Serif"/>
                <a:cs typeface="Microsoft Sans Serif"/>
              </a:rPr>
              <a:t>API</a:t>
            </a:r>
            <a:r>
              <a:rPr dirty="0" sz="1200" spc="-60">
                <a:solidFill>
                  <a:srgbClr val="4A6583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30">
                <a:solidFill>
                  <a:srgbClr val="4A6583"/>
                </a:solidFill>
                <a:latin typeface="Microsoft Sans Serif"/>
                <a:cs typeface="Microsoft Sans Serif"/>
              </a:rPr>
              <a:t>NSE </a:t>
            </a:r>
            <a:r>
              <a:rPr dirty="0" sz="1250" spc="-35">
                <a:solidFill>
                  <a:srgbClr val="4A6583"/>
                </a:solidFill>
                <a:latin typeface="Microsoft Sans Serif"/>
                <a:cs typeface="Microsoft Sans Serif"/>
              </a:rPr>
              <a:t>Bhavcopy </a:t>
            </a:r>
            <a:r>
              <a:rPr dirty="0" sz="1200" spc="-80">
                <a:solidFill>
                  <a:srgbClr val="4A6583"/>
                </a:solidFill>
                <a:latin typeface="Microsoft Sans Serif"/>
                <a:cs typeface="Microsoft Sans Serif"/>
              </a:rPr>
              <a:t>&amp;</a:t>
            </a:r>
            <a:r>
              <a:rPr dirty="0" sz="12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90">
                <a:solidFill>
                  <a:srgbClr val="4A6583"/>
                </a:solidFill>
                <a:latin typeface="Microsoft Sans Serif"/>
                <a:cs typeface="Microsoft Sans Serif"/>
              </a:rPr>
              <a:t>10</a:t>
            </a:r>
            <a:r>
              <a:rPr dirty="0" sz="12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0">
                <a:solidFill>
                  <a:srgbClr val="4A6583"/>
                </a:solidFill>
                <a:latin typeface="Microsoft Sans Serif"/>
                <a:cs typeface="Microsoft Sans Serif"/>
              </a:rPr>
              <a:t>CSVs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289493" y="3308071"/>
            <a:ext cx="108331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05" b="1">
                <a:solidFill>
                  <a:srgbClr val="093C61"/>
                </a:solidFill>
                <a:latin typeface="Arial"/>
                <a:cs typeface="Arial"/>
              </a:rPr>
              <a:t>TRANSFORM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07915" y="4076787"/>
            <a:ext cx="16459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685" marR="5080" indent="-134620">
              <a:lnSpc>
                <a:spcPct val="120000"/>
              </a:lnSpc>
              <a:spcBef>
                <a:spcPts val="100"/>
              </a:spcBef>
            </a:pPr>
            <a:r>
              <a:rPr dirty="0" sz="1250" spc="-55">
                <a:solidFill>
                  <a:srgbClr val="4A6583"/>
                </a:solidFill>
                <a:latin typeface="Microsoft Sans Serif"/>
                <a:cs typeface="Microsoft Sans Serif"/>
              </a:rPr>
              <a:t>Pandas</a:t>
            </a:r>
            <a:r>
              <a:rPr dirty="0" sz="1200" spc="-55">
                <a:solidFill>
                  <a:srgbClr val="4A6583"/>
                </a:solidFill>
                <a:latin typeface="Microsoft Sans Serif"/>
                <a:cs typeface="Microsoft Sans Serif"/>
              </a:rPr>
              <a:t>:</a:t>
            </a:r>
            <a:r>
              <a:rPr dirty="0" sz="12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35">
                <a:solidFill>
                  <a:srgbClr val="4A6583"/>
                </a:solidFill>
                <a:latin typeface="Microsoft Sans Serif"/>
                <a:cs typeface="Microsoft Sans Serif"/>
              </a:rPr>
              <a:t>Clean</a:t>
            </a:r>
            <a:r>
              <a:rPr dirty="0" sz="1200" spc="-35">
                <a:solidFill>
                  <a:srgbClr val="4A6583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50">
                <a:solidFill>
                  <a:srgbClr val="4A6583"/>
                </a:solidFill>
                <a:latin typeface="Microsoft Sans Serif"/>
                <a:cs typeface="Microsoft Sans Serif"/>
              </a:rPr>
              <a:t>Dedupe</a:t>
            </a:r>
            <a:r>
              <a:rPr dirty="0" sz="1200" spc="-50">
                <a:solidFill>
                  <a:srgbClr val="4A6583"/>
                </a:solidFill>
                <a:latin typeface="Microsoft Sans Serif"/>
                <a:cs typeface="Microsoft Sans Serif"/>
              </a:rPr>
              <a:t>, </a:t>
            </a:r>
            <a:r>
              <a:rPr dirty="0" sz="1250" spc="-50">
                <a:solidFill>
                  <a:srgbClr val="4A6583"/>
                </a:solidFill>
                <a:latin typeface="Microsoft Sans Serif"/>
                <a:cs typeface="Microsoft Sans Serif"/>
              </a:rPr>
              <a:t>Return</a:t>
            </a:r>
            <a:r>
              <a:rPr dirty="0" sz="1250" spc="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4A6583"/>
                </a:solidFill>
                <a:latin typeface="Microsoft Sans Serif"/>
                <a:cs typeface="Microsoft Sans Serif"/>
              </a:rPr>
              <a:t>Computation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46965" y="3308071"/>
            <a:ext cx="49847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90" b="1">
                <a:solidFill>
                  <a:srgbClr val="093C61"/>
                </a:solidFill>
                <a:latin typeface="Arial"/>
                <a:cs typeface="Arial"/>
              </a:rPr>
              <a:t>LOAD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16512" y="4076787"/>
            <a:ext cx="19589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4645" marR="5080" indent="-322580">
              <a:lnSpc>
                <a:spcPct val="120000"/>
              </a:lnSpc>
              <a:spcBef>
                <a:spcPts val="100"/>
              </a:spcBef>
            </a:pPr>
            <a:r>
              <a:rPr dirty="0" sz="1250" spc="-45">
                <a:solidFill>
                  <a:srgbClr val="4A6583"/>
                </a:solidFill>
                <a:latin typeface="Microsoft Sans Serif"/>
                <a:cs typeface="Microsoft Sans Serif"/>
              </a:rPr>
              <a:t>SQLite</a:t>
            </a:r>
            <a:r>
              <a:rPr dirty="0" sz="1200" spc="-45">
                <a:solidFill>
                  <a:srgbClr val="4A6583"/>
                </a:solidFill>
                <a:latin typeface="Microsoft Sans Serif"/>
                <a:cs typeface="Microsoft Sans Serif"/>
              </a:rPr>
              <a:t>:</a:t>
            </a:r>
            <a:r>
              <a:rPr dirty="0" sz="120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4A6583"/>
                </a:solidFill>
                <a:latin typeface="Microsoft Sans Serif"/>
                <a:cs typeface="Microsoft Sans Serif"/>
              </a:rPr>
              <a:t>5-</a:t>
            </a:r>
            <a:r>
              <a:rPr dirty="0" sz="1250" spc="-60">
                <a:solidFill>
                  <a:srgbClr val="4A6583"/>
                </a:solidFill>
                <a:latin typeface="Microsoft Sans Serif"/>
                <a:cs typeface="Microsoft Sans Serif"/>
              </a:rPr>
              <a:t>Table</a:t>
            </a:r>
            <a:r>
              <a:rPr dirty="0" sz="125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30">
                <a:solidFill>
                  <a:srgbClr val="4A6583"/>
                </a:solidFill>
                <a:latin typeface="Microsoft Sans Serif"/>
                <a:cs typeface="Microsoft Sans Serif"/>
              </a:rPr>
              <a:t>Star</a:t>
            </a:r>
            <a:r>
              <a:rPr dirty="0" sz="125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65">
                <a:solidFill>
                  <a:srgbClr val="4A6583"/>
                </a:solidFill>
                <a:latin typeface="Microsoft Sans Serif"/>
                <a:cs typeface="Microsoft Sans Serif"/>
              </a:rPr>
              <a:t>Schema </a:t>
            </a:r>
            <a:r>
              <a:rPr dirty="0" sz="1250">
                <a:solidFill>
                  <a:srgbClr val="4A6583"/>
                </a:solidFill>
                <a:latin typeface="Microsoft Sans Serif"/>
                <a:cs typeface="Microsoft Sans Serif"/>
              </a:rPr>
              <a:t>with</a:t>
            </a:r>
            <a:r>
              <a:rPr dirty="0" sz="125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60">
                <a:solidFill>
                  <a:srgbClr val="4A6583"/>
                </a:solidFill>
                <a:latin typeface="Microsoft Sans Serif"/>
                <a:cs typeface="Microsoft Sans Serif"/>
              </a:rPr>
              <a:t>AMFI</a:t>
            </a:r>
            <a:r>
              <a:rPr dirty="0" sz="125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4A6583"/>
                </a:solidFill>
                <a:latin typeface="Microsoft Sans Serif"/>
                <a:cs typeface="Microsoft Sans Serif"/>
              </a:rPr>
              <a:t>Indexing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965078" y="3308071"/>
            <a:ext cx="79248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25" b="1">
                <a:solidFill>
                  <a:srgbClr val="093C61"/>
                </a:solidFill>
                <a:latin typeface="Arial"/>
                <a:cs typeface="Arial"/>
              </a:rPr>
              <a:t>ANALYSE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361440" y="4076787"/>
            <a:ext cx="199961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3080" marR="5080" indent="-501015">
              <a:lnSpc>
                <a:spcPct val="120000"/>
              </a:lnSpc>
              <a:spcBef>
                <a:spcPts val="100"/>
              </a:spcBef>
            </a:pPr>
            <a:r>
              <a:rPr dirty="0" sz="1250">
                <a:solidFill>
                  <a:srgbClr val="4A6583"/>
                </a:solidFill>
                <a:latin typeface="Microsoft Sans Serif"/>
                <a:cs typeface="Microsoft Sans Serif"/>
              </a:rPr>
              <a:t>Jupyter</a:t>
            </a:r>
            <a:r>
              <a:rPr dirty="0" sz="1200">
                <a:solidFill>
                  <a:srgbClr val="4A6583"/>
                </a:solidFill>
                <a:latin typeface="Microsoft Sans Serif"/>
                <a:cs typeface="Microsoft Sans Serif"/>
              </a:rPr>
              <a:t>:</a:t>
            </a:r>
            <a:r>
              <a:rPr dirty="0" sz="12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35">
                <a:solidFill>
                  <a:srgbClr val="4A6583"/>
                </a:solidFill>
                <a:latin typeface="Microsoft Sans Serif"/>
                <a:cs typeface="Microsoft Sans Serif"/>
              </a:rPr>
              <a:t>Sharpe</a:t>
            </a:r>
            <a:r>
              <a:rPr dirty="0" sz="1200" spc="-35">
                <a:solidFill>
                  <a:srgbClr val="4A6583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-4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30">
                <a:solidFill>
                  <a:srgbClr val="4A6583"/>
                </a:solidFill>
                <a:latin typeface="Microsoft Sans Serif"/>
                <a:cs typeface="Microsoft Sans Serif"/>
              </a:rPr>
              <a:t>Alpha</a:t>
            </a:r>
            <a:r>
              <a:rPr dirty="0" sz="1200" spc="-30">
                <a:solidFill>
                  <a:srgbClr val="4A6583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-4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55">
                <a:solidFill>
                  <a:srgbClr val="4A6583"/>
                </a:solidFill>
                <a:latin typeface="Microsoft Sans Serif"/>
                <a:cs typeface="Microsoft Sans Serif"/>
              </a:rPr>
              <a:t>Beta</a:t>
            </a:r>
            <a:r>
              <a:rPr dirty="0" sz="1200" spc="-55">
                <a:solidFill>
                  <a:srgbClr val="4A6583"/>
                </a:solidFill>
                <a:latin typeface="Microsoft Sans Serif"/>
                <a:cs typeface="Microsoft Sans Serif"/>
              </a:rPr>
              <a:t>, </a:t>
            </a:r>
            <a:r>
              <a:rPr dirty="0" sz="1250" spc="-135">
                <a:solidFill>
                  <a:srgbClr val="4A6583"/>
                </a:solidFill>
                <a:latin typeface="Microsoft Sans Serif"/>
                <a:cs typeface="Microsoft Sans Serif"/>
              </a:rPr>
              <a:t>VaR</a:t>
            </a:r>
            <a:r>
              <a:rPr dirty="0" sz="125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80">
                <a:solidFill>
                  <a:srgbClr val="4A6583"/>
                </a:solidFill>
                <a:latin typeface="Microsoft Sans Serif"/>
                <a:cs typeface="Microsoft Sans Serif"/>
              </a:rPr>
              <a:t>&amp;</a:t>
            </a:r>
            <a:r>
              <a:rPr dirty="0" sz="1200" spc="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4A6583"/>
                </a:solidFill>
                <a:latin typeface="Microsoft Sans Serif"/>
                <a:cs typeface="Microsoft Sans Serif"/>
              </a:rPr>
              <a:t>Cohorts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182955" y="3308071"/>
            <a:ext cx="88646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95" b="1">
                <a:solidFill>
                  <a:srgbClr val="093C61"/>
                </a:solidFill>
                <a:latin typeface="Arial"/>
                <a:cs typeface="Arial"/>
              </a:rPr>
              <a:t>VISUALISE</a:t>
            </a:r>
            <a:endParaRPr sz="14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649269" y="4076787"/>
            <a:ext cx="19538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7695" marR="5080" indent="-595630">
              <a:lnSpc>
                <a:spcPct val="120000"/>
              </a:lnSpc>
              <a:spcBef>
                <a:spcPts val="100"/>
              </a:spcBef>
            </a:pPr>
            <a:r>
              <a:rPr dirty="0" sz="1250" spc="-50">
                <a:solidFill>
                  <a:srgbClr val="4A6583"/>
                </a:solidFill>
                <a:latin typeface="Microsoft Sans Serif"/>
                <a:cs typeface="Microsoft Sans Serif"/>
              </a:rPr>
              <a:t>Power</a:t>
            </a:r>
            <a:r>
              <a:rPr dirty="0" sz="125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45">
                <a:solidFill>
                  <a:srgbClr val="4A6583"/>
                </a:solidFill>
                <a:latin typeface="Microsoft Sans Serif"/>
                <a:cs typeface="Microsoft Sans Serif"/>
              </a:rPr>
              <a:t>BI</a:t>
            </a:r>
            <a:r>
              <a:rPr dirty="0" sz="1200" spc="-45">
                <a:solidFill>
                  <a:srgbClr val="4A6583"/>
                </a:solidFill>
                <a:latin typeface="Microsoft Sans Serif"/>
                <a:cs typeface="Microsoft Sans Serif"/>
              </a:rPr>
              <a:t>:</a:t>
            </a:r>
            <a:r>
              <a:rPr dirty="0" sz="120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5">
                <a:solidFill>
                  <a:srgbClr val="4A6583"/>
                </a:solidFill>
                <a:latin typeface="Microsoft Sans Serif"/>
                <a:cs typeface="Microsoft Sans Serif"/>
              </a:rPr>
              <a:t>4-</a:t>
            </a:r>
            <a:r>
              <a:rPr dirty="0" sz="1250" spc="-65">
                <a:solidFill>
                  <a:srgbClr val="4A6583"/>
                </a:solidFill>
                <a:latin typeface="Microsoft Sans Serif"/>
                <a:cs typeface="Microsoft Sans Serif"/>
              </a:rPr>
              <a:t>Page</a:t>
            </a:r>
            <a:r>
              <a:rPr dirty="0" sz="125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5">
                <a:solidFill>
                  <a:srgbClr val="4A6583"/>
                </a:solidFill>
                <a:latin typeface="Microsoft Sans Serif"/>
                <a:cs typeface="Microsoft Sans Serif"/>
              </a:rPr>
              <a:t>Interactive </a:t>
            </a:r>
            <a:r>
              <a:rPr dirty="0" sz="1250" spc="-10">
                <a:solidFill>
                  <a:srgbClr val="4A6583"/>
                </a:solidFill>
                <a:latin typeface="Microsoft Sans Serif"/>
                <a:cs typeface="Microsoft Sans Serif"/>
              </a:rPr>
              <a:t>Dashboard</a:t>
            </a:r>
            <a:endParaRPr sz="1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30"/>
              <a:t>INDUSTRY</a:t>
            </a:r>
            <a:r>
              <a:rPr dirty="0" spc="-290"/>
              <a:t> </a:t>
            </a:r>
            <a:r>
              <a:rPr dirty="0" spc="-125"/>
              <a:t>AUM</a:t>
            </a:r>
            <a:r>
              <a:rPr dirty="0" spc="-165"/>
              <a:t> </a:t>
            </a:r>
            <a:r>
              <a:rPr dirty="0" spc="-145"/>
              <a:t>TRAJECTORY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956706" y="2389414"/>
            <a:ext cx="8279130" cy="2506980"/>
            <a:chOff x="1956706" y="2389414"/>
            <a:chExt cx="8279130" cy="25069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3856" y="2446564"/>
              <a:ext cx="8164281" cy="244928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013856" y="2446564"/>
              <a:ext cx="8164830" cy="2041525"/>
            </a:xfrm>
            <a:custGeom>
              <a:avLst/>
              <a:gdLst/>
              <a:ahLst/>
              <a:cxnLst/>
              <a:rect l="l" t="t" r="r" b="b"/>
              <a:pathLst>
                <a:path w="8164830" h="2041525">
                  <a:moveTo>
                    <a:pt x="0" y="2041070"/>
                  </a:moveTo>
                  <a:lnTo>
                    <a:pt x="2041070" y="1387927"/>
                  </a:lnTo>
                  <a:lnTo>
                    <a:pt x="4082140" y="816428"/>
                  </a:lnTo>
                  <a:lnTo>
                    <a:pt x="6123210" y="244928"/>
                  </a:lnTo>
                  <a:lnTo>
                    <a:pt x="8164281" y="0"/>
                  </a:lnTo>
                </a:path>
              </a:pathLst>
            </a:custGeom>
            <a:ln w="32657">
              <a:solidFill>
                <a:srgbClr val="093C6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6706" y="4430484"/>
              <a:ext cx="114299" cy="1142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7776" y="3777341"/>
              <a:ext cx="114299" cy="1142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8846" y="3205842"/>
              <a:ext cx="114299" cy="11429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79917" y="2634342"/>
              <a:ext cx="114299" cy="11429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20987" y="2389414"/>
              <a:ext cx="114299" cy="114299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9512209" y="2163410"/>
            <a:ext cx="76136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75" b="1">
                <a:solidFill>
                  <a:srgbClr val="093C61"/>
                </a:solidFill>
                <a:latin typeface="Arial"/>
                <a:cs typeface="Arial"/>
              </a:rPr>
              <a:t>₹</a:t>
            </a:r>
            <a:r>
              <a:rPr dirty="0" sz="1400" spc="-75" b="1">
                <a:solidFill>
                  <a:srgbClr val="093C61"/>
                </a:solidFill>
                <a:latin typeface="Arial"/>
                <a:cs typeface="Arial"/>
              </a:rPr>
              <a:t>81.6L</a:t>
            </a:r>
            <a:r>
              <a:rPr dirty="0" sz="1400" spc="-50" b="1">
                <a:solidFill>
                  <a:srgbClr val="093C61"/>
                </a:solidFill>
                <a:latin typeface="Arial"/>
                <a:cs typeface="Arial"/>
              </a:rPr>
              <a:t> </a:t>
            </a:r>
            <a:r>
              <a:rPr dirty="0" sz="1400" spc="-35" b="1">
                <a:solidFill>
                  <a:srgbClr val="093C61"/>
                </a:solidFill>
                <a:latin typeface="Arial"/>
                <a:cs typeface="Arial"/>
              </a:rPr>
              <a:t>Cr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8800" y="4650452"/>
            <a:ext cx="11010265" cy="1002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54785">
              <a:lnSpc>
                <a:spcPct val="100000"/>
              </a:lnSpc>
              <a:spcBef>
                <a:spcPts val="135"/>
              </a:spcBef>
              <a:tabLst>
                <a:tab pos="3495675" algn="l"/>
                <a:tab pos="5536565" algn="l"/>
                <a:tab pos="7577455" algn="l"/>
              </a:tabLst>
            </a:pPr>
            <a:r>
              <a:rPr dirty="0" sz="1100">
                <a:solidFill>
                  <a:srgbClr val="4A6583"/>
                </a:solidFill>
                <a:latin typeface="Microsoft Sans Serif"/>
                <a:cs typeface="Microsoft Sans Serif"/>
              </a:rPr>
              <a:t>2022</a:t>
            </a:r>
            <a:r>
              <a:rPr dirty="0" sz="1100" spc="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4A6583"/>
                </a:solidFill>
                <a:latin typeface="Microsoft Sans Serif"/>
                <a:cs typeface="Microsoft Sans Serif"/>
              </a:rPr>
              <a:t>(</a:t>
            </a:r>
            <a:r>
              <a:rPr dirty="0" sz="1150" spc="-10">
                <a:solidFill>
                  <a:srgbClr val="4A6583"/>
                </a:solidFill>
                <a:latin typeface="Microsoft Sans Serif"/>
                <a:cs typeface="Microsoft Sans Serif"/>
              </a:rPr>
              <a:t>₹</a:t>
            </a:r>
            <a:r>
              <a:rPr dirty="0" sz="1100" spc="-10">
                <a:solidFill>
                  <a:srgbClr val="4A6583"/>
                </a:solidFill>
                <a:latin typeface="Microsoft Sans Serif"/>
                <a:cs typeface="Microsoft Sans Serif"/>
              </a:rPr>
              <a:t>27L</a:t>
            </a:r>
            <a:r>
              <a:rPr dirty="0" sz="1100" spc="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4A6583"/>
                </a:solidFill>
                <a:latin typeface="Microsoft Sans Serif"/>
                <a:cs typeface="Microsoft Sans Serif"/>
              </a:rPr>
              <a:t>Cr)</a:t>
            </a:r>
            <a:r>
              <a:rPr dirty="0" sz="1100">
                <a:solidFill>
                  <a:srgbClr val="4A6583"/>
                </a:solidFill>
                <a:latin typeface="Microsoft Sans Serif"/>
                <a:cs typeface="Microsoft Sans Serif"/>
              </a:rPr>
              <a:t>	2023</a:t>
            </a:r>
            <a:r>
              <a:rPr dirty="0" sz="1100" spc="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A6583"/>
                </a:solidFill>
                <a:latin typeface="Microsoft Sans Serif"/>
                <a:cs typeface="Microsoft Sans Serif"/>
              </a:rPr>
              <a:t>(</a:t>
            </a:r>
            <a:r>
              <a:rPr dirty="0" sz="1150">
                <a:solidFill>
                  <a:srgbClr val="4A6583"/>
                </a:solidFill>
                <a:latin typeface="Microsoft Sans Serif"/>
                <a:cs typeface="Microsoft Sans Serif"/>
              </a:rPr>
              <a:t>₹</a:t>
            </a:r>
            <a:r>
              <a:rPr dirty="0" sz="1100">
                <a:solidFill>
                  <a:srgbClr val="4A6583"/>
                </a:solidFill>
                <a:latin typeface="Microsoft Sans Serif"/>
                <a:cs typeface="Microsoft Sans Serif"/>
              </a:rPr>
              <a:t>39L</a:t>
            </a:r>
            <a:r>
              <a:rPr dirty="0" sz="1100" spc="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4A6583"/>
                </a:solidFill>
                <a:latin typeface="Microsoft Sans Serif"/>
                <a:cs typeface="Microsoft Sans Serif"/>
              </a:rPr>
              <a:t>Cr)</a:t>
            </a:r>
            <a:r>
              <a:rPr dirty="0" sz="1100">
                <a:solidFill>
                  <a:srgbClr val="4A6583"/>
                </a:solidFill>
                <a:latin typeface="Microsoft Sans Serif"/>
                <a:cs typeface="Microsoft Sans Serif"/>
              </a:rPr>
              <a:t>	2024</a:t>
            </a:r>
            <a:r>
              <a:rPr dirty="0" sz="1100" spc="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4A6583"/>
                </a:solidFill>
                <a:latin typeface="Microsoft Sans Serif"/>
                <a:cs typeface="Microsoft Sans Serif"/>
              </a:rPr>
              <a:t>(</a:t>
            </a:r>
            <a:r>
              <a:rPr dirty="0" sz="1150">
                <a:solidFill>
                  <a:srgbClr val="4A6583"/>
                </a:solidFill>
                <a:latin typeface="Microsoft Sans Serif"/>
                <a:cs typeface="Microsoft Sans Serif"/>
              </a:rPr>
              <a:t>₹</a:t>
            </a:r>
            <a:r>
              <a:rPr dirty="0" sz="1100">
                <a:solidFill>
                  <a:srgbClr val="4A6583"/>
                </a:solidFill>
                <a:latin typeface="Microsoft Sans Serif"/>
                <a:cs typeface="Microsoft Sans Serif"/>
              </a:rPr>
              <a:t>58L</a:t>
            </a:r>
            <a:r>
              <a:rPr dirty="0" sz="1100" spc="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4A6583"/>
                </a:solidFill>
                <a:latin typeface="Microsoft Sans Serif"/>
                <a:cs typeface="Microsoft Sans Serif"/>
              </a:rPr>
              <a:t>Cr)</a:t>
            </a:r>
            <a:r>
              <a:rPr dirty="0" sz="1100">
                <a:solidFill>
                  <a:srgbClr val="4A6583"/>
                </a:solidFill>
                <a:latin typeface="Microsoft Sans Serif"/>
                <a:cs typeface="Microsoft Sans Serif"/>
              </a:rPr>
              <a:t>	2025</a:t>
            </a:r>
            <a:r>
              <a:rPr dirty="0" sz="1100" spc="5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55">
                <a:solidFill>
                  <a:srgbClr val="4A6583"/>
                </a:solidFill>
                <a:latin typeface="Microsoft Sans Serif"/>
                <a:cs typeface="Microsoft Sans Serif"/>
              </a:rPr>
              <a:t>(</a:t>
            </a:r>
            <a:r>
              <a:rPr dirty="0" sz="1150" spc="-55">
                <a:solidFill>
                  <a:srgbClr val="4A6583"/>
                </a:solidFill>
                <a:latin typeface="Microsoft Sans Serif"/>
                <a:cs typeface="Microsoft Sans Serif"/>
              </a:rPr>
              <a:t>₹</a:t>
            </a:r>
            <a:r>
              <a:rPr dirty="0" sz="1100" spc="-55">
                <a:solidFill>
                  <a:srgbClr val="4A6583"/>
                </a:solidFill>
                <a:latin typeface="Microsoft Sans Serif"/>
                <a:cs typeface="Microsoft Sans Serif"/>
              </a:rPr>
              <a:t>81L</a:t>
            </a:r>
            <a:r>
              <a:rPr dirty="0" sz="1100" spc="6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4A6583"/>
                </a:solidFill>
                <a:latin typeface="Microsoft Sans Serif"/>
                <a:cs typeface="Microsoft Sans Serif"/>
              </a:rPr>
              <a:t>Cr)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8100"/>
              </a:lnSpc>
              <a:spcBef>
                <a:spcPts val="5"/>
              </a:spcBef>
            </a:pPr>
            <a:r>
              <a:rPr dirty="0" sz="1500" spc="-35">
                <a:solidFill>
                  <a:srgbClr val="042033"/>
                </a:solidFill>
                <a:latin typeface="Microsoft Sans Serif"/>
                <a:cs typeface="Microsoft Sans Serif"/>
              </a:rPr>
              <a:t>The</a:t>
            </a:r>
            <a:r>
              <a:rPr dirty="0" sz="1500" spc="-6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042033"/>
                </a:solidFill>
                <a:latin typeface="Microsoft Sans Serif"/>
                <a:cs typeface="Microsoft Sans Serif"/>
              </a:rPr>
              <a:t>industry</a:t>
            </a:r>
            <a:r>
              <a:rPr dirty="0" sz="1500" spc="-9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042033"/>
                </a:solidFill>
                <a:latin typeface="Microsoft Sans Serif"/>
                <a:cs typeface="Microsoft Sans Serif"/>
              </a:rPr>
              <a:t>witnessed</a:t>
            </a:r>
            <a:r>
              <a:rPr dirty="0" sz="1500" spc="-5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90">
                <a:solidFill>
                  <a:srgbClr val="042033"/>
                </a:solidFill>
                <a:latin typeface="Microsoft Sans Serif"/>
                <a:cs typeface="Microsoft Sans Serif"/>
              </a:rPr>
              <a:t>a</a:t>
            </a:r>
            <a:r>
              <a:rPr dirty="0" sz="1500" spc="-2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450" b="1">
                <a:solidFill>
                  <a:srgbClr val="093C61"/>
                </a:solidFill>
                <a:latin typeface="Arial"/>
                <a:cs typeface="Arial"/>
              </a:rPr>
              <a:t>3</a:t>
            </a:r>
            <a:r>
              <a:rPr dirty="0" sz="1500" b="1">
                <a:solidFill>
                  <a:srgbClr val="093C61"/>
                </a:solidFill>
                <a:latin typeface="Arial"/>
                <a:cs typeface="Arial"/>
              </a:rPr>
              <a:t>x</a:t>
            </a:r>
            <a:r>
              <a:rPr dirty="0" sz="1500" spc="-100" b="1">
                <a:solidFill>
                  <a:srgbClr val="093C61"/>
                </a:solidFill>
                <a:latin typeface="Arial"/>
                <a:cs typeface="Arial"/>
              </a:rPr>
              <a:t> </a:t>
            </a:r>
            <a:r>
              <a:rPr dirty="0" sz="1500" spc="-80" b="1">
                <a:solidFill>
                  <a:srgbClr val="093C61"/>
                </a:solidFill>
                <a:latin typeface="Arial"/>
                <a:cs typeface="Arial"/>
              </a:rPr>
              <a:t>expansion</a:t>
            </a:r>
            <a:r>
              <a:rPr dirty="0" sz="1500" spc="-40" b="1">
                <a:solidFill>
                  <a:srgbClr val="093C6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042033"/>
                </a:solidFill>
                <a:latin typeface="Microsoft Sans Serif"/>
                <a:cs typeface="Microsoft Sans Serif"/>
              </a:rPr>
              <a:t>in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042033"/>
                </a:solidFill>
                <a:latin typeface="Microsoft Sans Serif"/>
                <a:cs typeface="Microsoft Sans Serif"/>
              </a:rPr>
              <a:t>five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042033"/>
                </a:solidFill>
                <a:latin typeface="Microsoft Sans Serif"/>
                <a:cs typeface="Microsoft Sans Serif"/>
              </a:rPr>
              <a:t>years</a:t>
            </a:r>
            <a:r>
              <a:rPr dirty="0" sz="1450" spc="-25">
                <a:solidFill>
                  <a:srgbClr val="042033"/>
                </a:solidFill>
                <a:latin typeface="Microsoft Sans Serif"/>
                <a:cs typeface="Microsoft Sans Serif"/>
              </a:rPr>
              <a:t>,</a:t>
            </a:r>
            <a:r>
              <a:rPr dirty="0" sz="1450" spc="-3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042033"/>
                </a:solidFill>
                <a:latin typeface="Microsoft Sans Serif"/>
                <a:cs typeface="Microsoft Sans Serif"/>
              </a:rPr>
              <a:t>fueled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042033"/>
                </a:solidFill>
                <a:latin typeface="Microsoft Sans Serif"/>
                <a:cs typeface="Microsoft Sans Serif"/>
              </a:rPr>
              <a:t>by</a:t>
            </a:r>
            <a:r>
              <a:rPr dirty="0" sz="150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042033"/>
                </a:solidFill>
                <a:latin typeface="Microsoft Sans Serif"/>
                <a:cs typeface="Microsoft Sans Serif"/>
              </a:rPr>
              <a:t>rapid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042033"/>
                </a:solidFill>
                <a:latin typeface="Microsoft Sans Serif"/>
                <a:cs typeface="Microsoft Sans Serif"/>
              </a:rPr>
              <a:t>digitization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5">
                <a:solidFill>
                  <a:srgbClr val="042033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042033"/>
                </a:solidFill>
                <a:latin typeface="Microsoft Sans Serif"/>
                <a:cs typeface="Microsoft Sans Serif"/>
              </a:rPr>
              <a:t>strong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042033"/>
                </a:solidFill>
                <a:latin typeface="Microsoft Sans Serif"/>
                <a:cs typeface="Microsoft Sans Serif"/>
              </a:rPr>
              <a:t>retail</a:t>
            </a:r>
            <a:r>
              <a:rPr dirty="0" sz="150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042033"/>
                </a:solidFill>
                <a:latin typeface="Microsoft Sans Serif"/>
                <a:cs typeface="Microsoft Sans Serif"/>
              </a:rPr>
              <a:t>inflows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042033"/>
                </a:solidFill>
                <a:latin typeface="Microsoft Sans Serif"/>
                <a:cs typeface="Microsoft Sans Serif"/>
              </a:rPr>
              <a:t>through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20">
                <a:solidFill>
                  <a:srgbClr val="042033"/>
                </a:solidFill>
                <a:latin typeface="Microsoft Sans Serif"/>
                <a:cs typeface="Microsoft Sans Serif"/>
              </a:rPr>
              <a:t>SIP</a:t>
            </a:r>
            <a:r>
              <a:rPr dirty="0" sz="1500" spc="-2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5">
                <a:solidFill>
                  <a:srgbClr val="042033"/>
                </a:solidFill>
                <a:latin typeface="Microsoft Sans Serif"/>
                <a:cs typeface="Microsoft Sans Serif"/>
              </a:rPr>
              <a:t>channels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042033"/>
                </a:solidFill>
                <a:latin typeface="Microsoft Sans Serif"/>
                <a:cs typeface="Microsoft Sans Serif"/>
              </a:rPr>
              <a:t>reaching </a:t>
            </a:r>
            <a:r>
              <a:rPr dirty="0" sz="1500" spc="-50">
                <a:solidFill>
                  <a:srgbClr val="042033"/>
                </a:solidFill>
                <a:latin typeface="Microsoft Sans Serif"/>
                <a:cs typeface="Microsoft Sans Serif"/>
              </a:rPr>
              <a:t>an</a:t>
            </a:r>
            <a:r>
              <a:rPr dirty="0" sz="150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042033"/>
                </a:solidFill>
                <a:latin typeface="Microsoft Sans Serif"/>
                <a:cs typeface="Microsoft Sans Serif"/>
              </a:rPr>
              <a:t>all</a:t>
            </a:r>
            <a:r>
              <a:rPr dirty="0" sz="1450">
                <a:solidFill>
                  <a:srgbClr val="042033"/>
                </a:solidFill>
                <a:latin typeface="Microsoft Sans Serif"/>
                <a:cs typeface="Microsoft Sans Serif"/>
              </a:rPr>
              <a:t>-</a:t>
            </a:r>
            <a:r>
              <a:rPr dirty="0" sz="1500" spc="-20">
                <a:solidFill>
                  <a:srgbClr val="042033"/>
                </a:solidFill>
                <a:latin typeface="Microsoft Sans Serif"/>
                <a:cs typeface="Microsoft Sans Serif"/>
              </a:rPr>
              <a:t>time</a:t>
            </a:r>
            <a:r>
              <a:rPr dirty="0" sz="150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042033"/>
                </a:solidFill>
                <a:latin typeface="Microsoft Sans Serif"/>
                <a:cs typeface="Microsoft Sans Serif"/>
              </a:rPr>
              <a:t>high</a:t>
            </a:r>
            <a:r>
              <a:rPr dirty="0" sz="150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042033"/>
                </a:solidFill>
                <a:latin typeface="Microsoft Sans Serif"/>
                <a:cs typeface="Microsoft Sans Serif"/>
              </a:rPr>
              <a:t>of</a:t>
            </a:r>
            <a:r>
              <a:rPr dirty="0" sz="1500" spc="-3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50">
                <a:solidFill>
                  <a:srgbClr val="042033"/>
                </a:solidFill>
                <a:latin typeface="Microsoft Sans Serif"/>
                <a:cs typeface="Microsoft Sans Serif"/>
              </a:rPr>
              <a:t>₹</a:t>
            </a:r>
            <a:r>
              <a:rPr dirty="0" sz="1450" spc="-50">
                <a:solidFill>
                  <a:srgbClr val="042033"/>
                </a:solidFill>
                <a:latin typeface="Microsoft Sans Serif"/>
                <a:cs typeface="Microsoft Sans Serif"/>
              </a:rPr>
              <a:t>31,002</a:t>
            </a:r>
            <a:r>
              <a:rPr dirty="0" sz="1450" spc="-3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042033"/>
                </a:solidFill>
                <a:latin typeface="Microsoft Sans Serif"/>
                <a:cs typeface="Microsoft Sans Serif"/>
              </a:rPr>
              <a:t>Cr</a:t>
            </a:r>
            <a:r>
              <a:rPr dirty="0" sz="150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042033"/>
                </a:solidFill>
                <a:latin typeface="Microsoft Sans Serif"/>
                <a:cs typeface="Microsoft Sans Serif"/>
              </a:rPr>
              <a:t>in</a:t>
            </a:r>
            <a:r>
              <a:rPr dirty="0" sz="150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45">
                <a:solidFill>
                  <a:srgbClr val="042033"/>
                </a:solidFill>
                <a:latin typeface="Microsoft Sans Serif"/>
                <a:cs typeface="Microsoft Sans Serif"/>
              </a:rPr>
              <a:t>Dec</a:t>
            </a:r>
            <a:r>
              <a:rPr dirty="0" sz="1500" spc="-3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042033"/>
                </a:solidFill>
                <a:latin typeface="Microsoft Sans Serif"/>
                <a:cs typeface="Microsoft Sans Serif"/>
              </a:rPr>
              <a:t>2025.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531400"/>
            <a:ext cx="4753610" cy="492759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30"/>
              <a:t>AMC</a:t>
            </a:r>
            <a:r>
              <a:rPr dirty="0" spc="-105"/>
              <a:t> </a:t>
            </a:r>
            <a:r>
              <a:rPr dirty="0" spc="-170"/>
              <a:t>LEADERSHIP</a:t>
            </a:r>
            <a:r>
              <a:rPr dirty="0" spc="-160"/>
              <a:t> </a:t>
            </a:r>
            <a:r>
              <a:rPr dirty="0" spc="-65"/>
              <a:t>MATRIX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71500" y="49720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9000" y="19050"/>
                </a:moveTo>
                <a:lnTo>
                  <a:pt x="0" y="19050"/>
                </a:lnTo>
                <a:lnTo>
                  <a:pt x="0" y="0"/>
                </a:lnTo>
                <a:lnTo>
                  <a:pt x="11049000" y="0"/>
                </a:lnTo>
                <a:lnTo>
                  <a:pt x="11049000" y="19050"/>
                </a:lnTo>
                <a:close/>
              </a:path>
            </a:pathLst>
          </a:custGeom>
          <a:solidFill>
            <a:srgbClr val="DBDD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94006" y="4665045"/>
            <a:ext cx="765175" cy="219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105" b="1">
                <a:solidFill>
                  <a:srgbClr val="042033"/>
                </a:solidFill>
                <a:latin typeface="Arial"/>
                <a:cs typeface="Arial"/>
              </a:rPr>
              <a:t>SBI</a:t>
            </a:r>
            <a:r>
              <a:rPr dirty="0" sz="1250" spc="-65" b="1">
                <a:solidFill>
                  <a:srgbClr val="042033"/>
                </a:solidFill>
                <a:latin typeface="Arial"/>
                <a:cs typeface="Arial"/>
              </a:rPr>
              <a:t> </a:t>
            </a:r>
            <a:r>
              <a:rPr dirty="0" sz="1250" spc="-45" b="1">
                <a:solidFill>
                  <a:srgbClr val="042033"/>
                </a:solidFill>
                <a:latin typeface="Arial"/>
                <a:cs typeface="Arial"/>
              </a:rPr>
              <a:t>Mutual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72567" y="4665045"/>
            <a:ext cx="627380" cy="219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55" b="1">
                <a:solidFill>
                  <a:srgbClr val="042033"/>
                </a:solidFill>
                <a:latin typeface="Arial"/>
                <a:cs typeface="Arial"/>
              </a:rPr>
              <a:t>ICICI</a:t>
            </a:r>
            <a:r>
              <a:rPr dirty="0" sz="1250" spc="-50" b="1">
                <a:solidFill>
                  <a:srgbClr val="042033"/>
                </a:solidFill>
                <a:latin typeface="Arial"/>
                <a:cs typeface="Arial"/>
              </a:rPr>
              <a:t> </a:t>
            </a:r>
            <a:r>
              <a:rPr dirty="0" sz="1250" spc="-65" b="1">
                <a:solidFill>
                  <a:srgbClr val="042033"/>
                </a:solidFill>
                <a:latin typeface="Arial"/>
                <a:cs typeface="Arial"/>
              </a:rPr>
              <a:t>Pru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27442" y="4665045"/>
            <a:ext cx="937260" cy="219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90" b="1">
                <a:solidFill>
                  <a:srgbClr val="042033"/>
                </a:solidFill>
                <a:latin typeface="Arial"/>
                <a:cs typeface="Arial"/>
              </a:rPr>
              <a:t>HDFC</a:t>
            </a:r>
            <a:r>
              <a:rPr dirty="0" sz="1250" spc="-65" b="1">
                <a:solidFill>
                  <a:srgbClr val="042033"/>
                </a:solidFill>
                <a:latin typeface="Arial"/>
                <a:cs typeface="Arial"/>
              </a:rPr>
              <a:t> </a:t>
            </a:r>
            <a:r>
              <a:rPr dirty="0" sz="1250" spc="-40" b="1">
                <a:solidFill>
                  <a:srgbClr val="042033"/>
                </a:solidFill>
                <a:latin typeface="Arial"/>
                <a:cs typeface="Arial"/>
              </a:rPr>
              <a:t>Mutual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857921" y="4665045"/>
            <a:ext cx="895985" cy="219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75" b="1">
                <a:solidFill>
                  <a:srgbClr val="042033"/>
                </a:solidFill>
                <a:latin typeface="Arial"/>
                <a:cs typeface="Arial"/>
              </a:rPr>
              <a:t>Nippon</a:t>
            </a:r>
            <a:r>
              <a:rPr dirty="0" sz="1250" spc="-35" b="1">
                <a:solidFill>
                  <a:srgbClr val="042033"/>
                </a:solidFill>
                <a:latin typeface="Arial"/>
                <a:cs typeface="Arial"/>
              </a:rPr>
              <a:t> </a:t>
            </a:r>
            <a:r>
              <a:rPr dirty="0" sz="1250" spc="-45" b="1">
                <a:solidFill>
                  <a:srgbClr val="042033"/>
                </a:solidFill>
                <a:latin typeface="Arial"/>
                <a:cs typeface="Arial"/>
              </a:rPr>
              <a:t>India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48367" y="4665045"/>
            <a:ext cx="934719" cy="219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75" b="1">
                <a:solidFill>
                  <a:srgbClr val="042033"/>
                </a:solidFill>
                <a:latin typeface="Arial"/>
                <a:cs typeface="Arial"/>
              </a:rPr>
              <a:t>Kotak</a:t>
            </a:r>
            <a:r>
              <a:rPr dirty="0" sz="1250" spc="-60" b="1">
                <a:solidFill>
                  <a:srgbClr val="042033"/>
                </a:solidFill>
                <a:latin typeface="Arial"/>
                <a:cs typeface="Arial"/>
              </a:rPr>
              <a:t> </a:t>
            </a:r>
            <a:r>
              <a:rPr dirty="0" sz="1250" spc="-40" b="1">
                <a:solidFill>
                  <a:srgbClr val="042033"/>
                </a:solidFill>
                <a:latin typeface="Arial"/>
                <a:cs typeface="Arial"/>
              </a:rPr>
              <a:t>Mutual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18583" y="5297934"/>
            <a:ext cx="9354820" cy="271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 i="1">
                <a:solidFill>
                  <a:srgbClr val="4A6583"/>
                </a:solidFill>
                <a:latin typeface="Arial"/>
                <a:cs typeface="Arial"/>
              </a:rPr>
              <a:t>*</a:t>
            </a:r>
            <a:r>
              <a:rPr dirty="0" sz="1550" spc="-25" i="1">
                <a:solidFill>
                  <a:srgbClr val="4A6583"/>
                </a:solidFill>
                <a:latin typeface="Arial"/>
                <a:cs typeface="Arial"/>
              </a:rPr>
              <a:t>Assets</a:t>
            </a:r>
            <a:r>
              <a:rPr dirty="0" sz="1550" spc="-40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70" i="1">
                <a:solidFill>
                  <a:srgbClr val="4A6583"/>
                </a:solidFill>
                <a:latin typeface="Arial"/>
                <a:cs typeface="Arial"/>
              </a:rPr>
              <a:t>Under</a:t>
            </a:r>
            <a:r>
              <a:rPr dirty="0" sz="1550" spc="-35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75" i="1">
                <a:solidFill>
                  <a:srgbClr val="4A6583"/>
                </a:solidFill>
                <a:latin typeface="Arial"/>
                <a:cs typeface="Arial"/>
              </a:rPr>
              <a:t>Management</a:t>
            </a:r>
            <a:r>
              <a:rPr dirty="0" sz="1550" spc="-35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45" i="1">
                <a:solidFill>
                  <a:srgbClr val="4A6583"/>
                </a:solidFill>
                <a:latin typeface="Arial"/>
                <a:cs typeface="Arial"/>
              </a:rPr>
              <a:t>in</a:t>
            </a:r>
            <a:r>
              <a:rPr dirty="0" sz="1550" spc="-35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600" spc="-165" i="1">
                <a:solidFill>
                  <a:srgbClr val="4A6583"/>
                </a:solidFill>
                <a:latin typeface="Arial"/>
                <a:cs typeface="Arial"/>
              </a:rPr>
              <a:t>₹</a:t>
            </a:r>
            <a:r>
              <a:rPr dirty="0" sz="1600" spc="-50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85" i="1">
                <a:solidFill>
                  <a:srgbClr val="4A6583"/>
                </a:solidFill>
                <a:latin typeface="Arial"/>
                <a:cs typeface="Arial"/>
              </a:rPr>
              <a:t>Lakh</a:t>
            </a:r>
            <a:r>
              <a:rPr dirty="0" sz="1550" spc="-35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75" i="1">
                <a:solidFill>
                  <a:srgbClr val="4A6583"/>
                </a:solidFill>
                <a:latin typeface="Arial"/>
                <a:cs typeface="Arial"/>
              </a:rPr>
              <a:t>Crore</a:t>
            </a:r>
            <a:r>
              <a:rPr dirty="0" sz="1550" spc="-35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00" spc="-50" i="1">
                <a:solidFill>
                  <a:srgbClr val="4A6583"/>
                </a:solidFill>
                <a:latin typeface="Arial"/>
                <a:cs typeface="Arial"/>
              </a:rPr>
              <a:t>(</a:t>
            </a:r>
            <a:r>
              <a:rPr dirty="0" sz="1550" spc="-50" i="1">
                <a:solidFill>
                  <a:srgbClr val="4A6583"/>
                </a:solidFill>
                <a:latin typeface="Arial"/>
                <a:cs typeface="Arial"/>
              </a:rPr>
              <a:t>Projected</a:t>
            </a:r>
            <a:r>
              <a:rPr dirty="0" sz="1550" spc="-35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4A6583"/>
                </a:solidFill>
                <a:latin typeface="Arial"/>
                <a:cs typeface="Arial"/>
              </a:rPr>
              <a:t>2026).</a:t>
            </a:r>
            <a:r>
              <a:rPr dirty="0" sz="1500" spc="-20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140" i="1">
                <a:solidFill>
                  <a:srgbClr val="4A6583"/>
                </a:solidFill>
                <a:latin typeface="Arial"/>
                <a:cs typeface="Arial"/>
              </a:rPr>
              <a:t>SBI</a:t>
            </a:r>
            <a:r>
              <a:rPr dirty="0" sz="1550" spc="-40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60" i="1">
                <a:solidFill>
                  <a:srgbClr val="4A6583"/>
                </a:solidFill>
                <a:latin typeface="Arial"/>
                <a:cs typeface="Arial"/>
              </a:rPr>
              <a:t>Mutual</a:t>
            </a:r>
            <a:r>
              <a:rPr dirty="0" sz="1550" spc="-35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100" i="1">
                <a:solidFill>
                  <a:srgbClr val="4A6583"/>
                </a:solidFill>
                <a:latin typeface="Arial"/>
                <a:cs typeface="Arial"/>
              </a:rPr>
              <a:t>Fund</a:t>
            </a:r>
            <a:r>
              <a:rPr dirty="0" sz="1550" spc="-35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65" i="1">
                <a:solidFill>
                  <a:srgbClr val="4A6583"/>
                </a:solidFill>
                <a:latin typeface="Arial"/>
                <a:cs typeface="Arial"/>
              </a:rPr>
              <a:t>maintains</a:t>
            </a:r>
            <a:r>
              <a:rPr dirty="0" sz="1550" spc="-35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110" i="1">
                <a:solidFill>
                  <a:srgbClr val="4A6583"/>
                </a:solidFill>
                <a:latin typeface="Arial"/>
                <a:cs typeface="Arial"/>
              </a:rPr>
              <a:t>a</a:t>
            </a:r>
            <a:r>
              <a:rPr dirty="0" sz="1550" spc="-40" i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50" spc="-60" i="1">
                <a:solidFill>
                  <a:srgbClr val="4A6583"/>
                </a:solidFill>
                <a:latin typeface="Arial"/>
                <a:cs typeface="Arial"/>
              </a:rPr>
              <a:t>dominant</a:t>
            </a:r>
            <a:r>
              <a:rPr dirty="0" sz="1550" spc="-35" i="1">
                <a:solidFill>
                  <a:srgbClr val="4A6583"/>
                </a:solidFill>
                <a:latin typeface="Arial"/>
                <a:cs typeface="Arial"/>
              </a:rPr>
              <a:t> industry </a:t>
            </a:r>
            <a:r>
              <a:rPr dirty="0" sz="1550" spc="-10" i="1">
                <a:solidFill>
                  <a:srgbClr val="4A6583"/>
                </a:solidFill>
                <a:latin typeface="Arial"/>
                <a:cs typeface="Arial"/>
              </a:rPr>
              <a:t>lead</a:t>
            </a:r>
            <a:r>
              <a:rPr dirty="0" sz="1500" spc="-10" i="1">
                <a:solidFill>
                  <a:srgbClr val="4A6583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2324099"/>
            <a:ext cx="619125" cy="222885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497612" y="2010387"/>
            <a:ext cx="35750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0" b="1">
                <a:solidFill>
                  <a:srgbClr val="093C61"/>
                </a:solidFill>
                <a:latin typeface="Arial"/>
                <a:cs typeface="Arial"/>
              </a:rPr>
              <a:t>85.0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1400" y="2838449"/>
            <a:ext cx="619140" cy="171450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3706069" y="2524737"/>
            <a:ext cx="36068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0" b="1">
                <a:solidFill>
                  <a:srgbClr val="093C61"/>
                </a:solidFill>
                <a:latin typeface="Arial"/>
                <a:cs typeface="Arial"/>
              </a:rPr>
              <a:t>63.2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1200" y="2981324"/>
            <a:ext cx="619109" cy="157162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5922860" y="2667612"/>
            <a:ext cx="34671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0" b="1">
                <a:solidFill>
                  <a:srgbClr val="093C61"/>
                </a:solidFill>
                <a:latin typeface="Arial"/>
                <a:cs typeface="Arial"/>
              </a:rPr>
              <a:t>58.7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01000" y="3505200"/>
            <a:ext cx="619109" cy="1047750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8148139" y="3191487"/>
            <a:ext cx="31559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60" b="1">
                <a:solidFill>
                  <a:srgbClr val="093C61"/>
                </a:solidFill>
                <a:latin typeface="Arial"/>
                <a:cs typeface="Arial"/>
              </a:rPr>
              <a:t>39.1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10800" y="3600450"/>
            <a:ext cx="619109" cy="952500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0337736" y="3286737"/>
            <a:ext cx="3562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0" b="1">
                <a:solidFill>
                  <a:srgbClr val="093C61"/>
                </a:solidFill>
                <a:latin typeface="Arial"/>
                <a:cs typeface="Arial"/>
              </a:rPr>
              <a:t>36.5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30"/>
              <a:t>RISK-</a:t>
            </a:r>
            <a:r>
              <a:rPr dirty="0" spc="-125"/>
              <a:t>ADJUSTED</a:t>
            </a:r>
            <a:r>
              <a:rPr dirty="0" spc="-135"/>
              <a:t> </a:t>
            </a:r>
            <a:r>
              <a:rPr dirty="0" spc="-145"/>
              <a:t>PERFORMANCE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71500" y="2352675"/>
          <a:ext cx="11125200" cy="2319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3550"/>
                <a:gridCol w="2263775"/>
                <a:gridCol w="2563495"/>
                <a:gridCol w="1483995"/>
                <a:gridCol w="3004820"/>
              </a:tblGrid>
              <a:tr h="45720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14300">
                    <a:solidFill>
                      <a:srgbClr val="093C61"/>
                    </a:solidFill>
                  </a:tcPr>
                </a:tc>
                <a:tc>
                  <a:txBody>
                    <a:bodyPr/>
                    <a:lstStyle/>
                    <a:p>
                      <a:pPr marL="66230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50" spc="-8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Sharpe</a:t>
                      </a:r>
                      <a:r>
                        <a:rPr dirty="0" sz="135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Ratio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14300">
                    <a:solidFill>
                      <a:srgbClr val="093C61"/>
                    </a:solidFill>
                  </a:tcPr>
                </a:tc>
                <a:tc>
                  <a:txBody>
                    <a:bodyPr/>
                    <a:lstStyle/>
                    <a:p>
                      <a:pPr marL="66230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50" spc="-8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Alpha</a:t>
                      </a:r>
                      <a:r>
                        <a:rPr dirty="0" sz="1350" spc="-6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dirty="0" sz="13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vs</a:t>
                      </a:r>
                      <a:r>
                        <a:rPr dirty="0" sz="135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Nifty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14300">
                    <a:solidFill>
                      <a:srgbClr val="093C61"/>
                    </a:solidFill>
                  </a:tcPr>
                </a:tc>
                <a:tc>
                  <a:txBody>
                    <a:bodyPr/>
                    <a:lstStyle/>
                    <a:p>
                      <a:pPr marL="75374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Beta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14300">
                    <a:solidFill>
                      <a:srgbClr val="093C61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50" spc="-7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Daily</a:t>
                      </a:r>
                      <a:r>
                        <a:rPr dirty="0" sz="1350" spc="-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</a:t>
                      </a:r>
                      <a:r>
                        <a:rPr dirty="0" sz="1350" spc="-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(95%)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14300">
                    <a:solidFill>
                      <a:srgbClr val="093C61"/>
                    </a:solidFill>
                  </a:tcPr>
                </a:tc>
              </a:tr>
              <a:tr h="46164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50" spc="-95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Liquid</a:t>
                      </a:r>
                      <a:r>
                        <a:rPr dirty="0" sz="1350" spc="-65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Funds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14300">
                    <a:lnB w="9525">
                      <a:solidFill>
                        <a:srgbClr val="DBDD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230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300" spc="-20" b="1">
                          <a:solidFill>
                            <a:srgbClr val="093C61"/>
                          </a:solidFill>
                          <a:latin typeface="Arial"/>
                          <a:cs typeface="Arial"/>
                        </a:rPr>
                        <a:t>7.68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20650">
                    <a:lnB w="9525">
                      <a:solidFill>
                        <a:srgbClr val="DBDD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230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300" spc="-1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0.12%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0650">
                    <a:lnB w="9525">
                      <a:solidFill>
                        <a:srgbClr val="DBDD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374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300" spc="-2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0.02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0650">
                    <a:lnB w="9525">
                      <a:solidFill>
                        <a:srgbClr val="DBDD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300" spc="114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300" spc="-1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0.02%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0650">
                    <a:lnB w="9525">
                      <a:solidFill>
                        <a:srgbClr val="DBDDE1"/>
                      </a:solidFill>
                      <a:prstDash val="soli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350" spc="-85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Large</a:t>
                      </a:r>
                      <a:r>
                        <a:rPr dirty="0" sz="1350" spc="-65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5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Cap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6230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-2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1.24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6230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-1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1.45%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5374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-2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0.98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114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300" spc="-1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1.15%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350" spc="-60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Mid</a:t>
                      </a:r>
                      <a:r>
                        <a:rPr dirty="0" sz="1350" spc="-70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5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Cap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230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-2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0.92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230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-1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2.88%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374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-2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1.12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114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300" spc="-1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1.95%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350" spc="-90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Small</a:t>
                      </a:r>
                      <a:r>
                        <a:rPr dirty="0" sz="1350" spc="-70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5" b="1">
                          <a:solidFill>
                            <a:srgbClr val="042033"/>
                          </a:solidFill>
                          <a:latin typeface="Arial"/>
                          <a:cs typeface="Arial"/>
                        </a:rPr>
                        <a:t>Cap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6230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-2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0.78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6230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-10" b="1">
                          <a:solidFill>
                            <a:srgbClr val="37AFEC"/>
                          </a:solidFill>
                          <a:latin typeface="Arial"/>
                          <a:cs typeface="Arial"/>
                        </a:rPr>
                        <a:t>4.22%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5374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-20">
                          <a:solidFill>
                            <a:srgbClr val="042033"/>
                          </a:solidFill>
                          <a:latin typeface="Microsoft Sans Serif"/>
                          <a:cs typeface="Microsoft Sans Serif"/>
                        </a:rPr>
                        <a:t>1.35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300" spc="85" b="1">
                          <a:solidFill>
                            <a:srgbClr val="D52F3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300" spc="-10" b="1">
                          <a:solidFill>
                            <a:srgbClr val="D52F31"/>
                          </a:solidFill>
                          <a:latin typeface="Arial"/>
                          <a:cs typeface="Arial"/>
                        </a:rPr>
                        <a:t>2.60%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DBDDE1"/>
                      </a:solidFill>
                      <a:prstDash val="solid"/>
                    </a:lnT>
                    <a:lnB w="9525">
                      <a:solidFill>
                        <a:srgbClr val="DBDDE1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558800" y="4852469"/>
            <a:ext cx="10612755" cy="5803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14"/>
              </a:spcBef>
            </a:pPr>
            <a:r>
              <a:rPr dirty="0" sz="1500" spc="-75" b="1">
                <a:solidFill>
                  <a:srgbClr val="093C61"/>
                </a:solidFill>
                <a:latin typeface="Arial"/>
                <a:cs typeface="Arial"/>
              </a:rPr>
              <a:t>Insight</a:t>
            </a:r>
            <a:r>
              <a:rPr dirty="0" sz="1450" spc="-75" b="1">
                <a:solidFill>
                  <a:srgbClr val="093C61"/>
                </a:solidFill>
                <a:latin typeface="Arial"/>
                <a:cs typeface="Arial"/>
              </a:rPr>
              <a:t>:</a:t>
            </a:r>
            <a:r>
              <a:rPr dirty="0" sz="1450" spc="-25" b="1">
                <a:solidFill>
                  <a:srgbClr val="093C61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093C61"/>
                </a:solidFill>
                <a:latin typeface="Microsoft Sans Serif"/>
                <a:cs typeface="Microsoft Sans Serif"/>
              </a:rPr>
              <a:t>Liquid</a:t>
            </a:r>
            <a:r>
              <a:rPr dirty="0" sz="1500" spc="-7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093C61"/>
                </a:solidFill>
                <a:latin typeface="Microsoft Sans Serif"/>
                <a:cs typeface="Microsoft Sans Serif"/>
              </a:rPr>
              <a:t>funds</a:t>
            </a:r>
            <a:r>
              <a:rPr dirty="0" sz="150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093C61"/>
                </a:solidFill>
                <a:latin typeface="Microsoft Sans Serif"/>
                <a:cs typeface="Microsoft Sans Serif"/>
              </a:rPr>
              <a:t>offer</a:t>
            </a:r>
            <a:r>
              <a:rPr dirty="0" sz="150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093C61"/>
                </a:solidFill>
                <a:latin typeface="Microsoft Sans Serif"/>
                <a:cs typeface="Microsoft Sans Serif"/>
              </a:rPr>
              <a:t>the</a:t>
            </a:r>
            <a:r>
              <a:rPr dirty="0" sz="150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093C61"/>
                </a:solidFill>
                <a:latin typeface="Microsoft Sans Serif"/>
                <a:cs typeface="Microsoft Sans Serif"/>
              </a:rPr>
              <a:t>highest</a:t>
            </a:r>
            <a:r>
              <a:rPr dirty="0" sz="150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093C61"/>
                </a:solidFill>
                <a:latin typeface="Microsoft Sans Serif"/>
                <a:cs typeface="Microsoft Sans Serif"/>
              </a:rPr>
              <a:t>structural</a:t>
            </a:r>
            <a:r>
              <a:rPr dirty="0" sz="150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093C61"/>
                </a:solidFill>
                <a:latin typeface="Microsoft Sans Serif"/>
                <a:cs typeface="Microsoft Sans Serif"/>
              </a:rPr>
              <a:t>risk</a:t>
            </a:r>
            <a:r>
              <a:rPr dirty="0" sz="1450">
                <a:solidFill>
                  <a:srgbClr val="093C61"/>
                </a:solidFill>
                <a:latin typeface="Microsoft Sans Serif"/>
                <a:cs typeface="Microsoft Sans Serif"/>
              </a:rPr>
              <a:t>-</a:t>
            </a:r>
            <a:r>
              <a:rPr dirty="0" sz="1500" spc="-30">
                <a:solidFill>
                  <a:srgbClr val="093C61"/>
                </a:solidFill>
                <a:latin typeface="Microsoft Sans Serif"/>
                <a:cs typeface="Microsoft Sans Serif"/>
              </a:rPr>
              <a:t>adjusted</a:t>
            </a:r>
            <a:r>
              <a:rPr dirty="0" sz="150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093C61"/>
                </a:solidFill>
                <a:latin typeface="Microsoft Sans Serif"/>
                <a:cs typeface="Microsoft Sans Serif"/>
              </a:rPr>
              <a:t>stability</a:t>
            </a:r>
            <a:r>
              <a:rPr dirty="0" sz="150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40">
                <a:solidFill>
                  <a:srgbClr val="093C61"/>
                </a:solidFill>
                <a:latin typeface="Microsoft Sans Serif"/>
                <a:cs typeface="Microsoft Sans Serif"/>
              </a:rPr>
              <a:t>(</a:t>
            </a:r>
            <a:r>
              <a:rPr dirty="0" sz="1500" spc="-40">
                <a:solidFill>
                  <a:srgbClr val="093C61"/>
                </a:solidFill>
                <a:latin typeface="Microsoft Sans Serif"/>
                <a:cs typeface="Microsoft Sans Serif"/>
              </a:rPr>
              <a:t>Sharpe</a:t>
            </a:r>
            <a:r>
              <a:rPr dirty="0" sz="150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30">
                <a:solidFill>
                  <a:srgbClr val="093C61"/>
                </a:solidFill>
                <a:latin typeface="Microsoft Sans Serif"/>
                <a:cs typeface="Microsoft Sans Serif"/>
              </a:rPr>
              <a:t>7.68), </a:t>
            </a:r>
            <a:r>
              <a:rPr dirty="0" sz="1500" spc="-20">
                <a:solidFill>
                  <a:srgbClr val="093C61"/>
                </a:solidFill>
                <a:latin typeface="Microsoft Sans Serif"/>
                <a:cs typeface="Microsoft Sans Serif"/>
              </a:rPr>
              <a:t>while</a:t>
            </a:r>
            <a:r>
              <a:rPr dirty="0" sz="150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70">
                <a:solidFill>
                  <a:srgbClr val="093C61"/>
                </a:solidFill>
                <a:latin typeface="Microsoft Sans Serif"/>
                <a:cs typeface="Microsoft Sans Serif"/>
              </a:rPr>
              <a:t>Small</a:t>
            </a:r>
            <a:r>
              <a:rPr dirty="0" sz="1500" spc="-3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55">
                <a:solidFill>
                  <a:srgbClr val="093C61"/>
                </a:solidFill>
                <a:latin typeface="Microsoft Sans Serif"/>
                <a:cs typeface="Microsoft Sans Serif"/>
              </a:rPr>
              <a:t>Caps</a:t>
            </a:r>
            <a:r>
              <a:rPr dirty="0" sz="150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093C61"/>
                </a:solidFill>
                <a:latin typeface="Microsoft Sans Serif"/>
                <a:cs typeface="Microsoft Sans Serif"/>
              </a:rPr>
              <a:t>generate</a:t>
            </a:r>
            <a:r>
              <a:rPr dirty="0" sz="1500" spc="-3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60">
                <a:solidFill>
                  <a:srgbClr val="093C61"/>
                </a:solidFill>
                <a:latin typeface="Microsoft Sans Serif"/>
                <a:cs typeface="Microsoft Sans Serif"/>
              </a:rPr>
              <a:t>maximum</a:t>
            </a:r>
            <a:r>
              <a:rPr dirty="0" sz="1500" spc="-4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093C61"/>
                </a:solidFill>
                <a:latin typeface="Microsoft Sans Serif"/>
                <a:cs typeface="Microsoft Sans Serif"/>
              </a:rPr>
              <a:t>baseline </a:t>
            </a:r>
            <a:r>
              <a:rPr dirty="0" sz="1500" spc="-40">
                <a:solidFill>
                  <a:srgbClr val="093C61"/>
                </a:solidFill>
                <a:latin typeface="Microsoft Sans Serif"/>
                <a:cs typeface="Microsoft Sans Serif"/>
              </a:rPr>
              <a:t>alpha</a:t>
            </a:r>
            <a:r>
              <a:rPr dirty="0" sz="1500" spc="-5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5">
                <a:solidFill>
                  <a:srgbClr val="093C61"/>
                </a:solidFill>
                <a:latin typeface="Microsoft Sans Serif"/>
                <a:cs typeface="Microsoft Sans Serif"/>
              </a:rPr>
              <a:t>values</a:t>
            </a:r>
            <a:r>
              <a:rPr dirty="0" sz="1500" spc="-5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093C61"/>
                </a:solidFill>
                <a:latin typeface="Microsoft Sans Serif"/>
                <a:cs typeface="Microsoft Sans Serif"/>
              </a:rPr>
              <a:t>alongside</a:t>
            </a:r>
            <a:r>
              <a:rPr dirty="0" sz="1500" spc="-5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093C61"/>
                </a:solidFill>
                <a:latin typeface="Microsoft Sans Serif"/>
                <a:cs typeface="Microsoft Sans Serif"/>
              </a:rPr>
              <a:t>increased</a:t>
            </a:r>
            <a:r>
              <a:rPr dirty="0" sz="1500" spc="-5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093C61"/>
                </a:solidFill>
                <a:latin typeface="Microsoft Sans Serif"/>
                <a:cs typeface="Microsoft Sans Serif"/>
              </a:rPr>
              <a:t>portfolio</a:t>
            </a:r>
            <a:r>
              <a:rPr dirty="0" sz="1500" spc="-55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093C61"/>
                </a:solidFill>
                <a:latin typeface="Microsoft Sans Serif"/>
                <a:cs typeface="Microsoft Sans Serif"/>
              </a:rPr>
              <a:t>variance</a:t>
            </a:r>
            <a:r>
              <a:rPr dirty="0" sz="1500" spc="-50">
                <a:solidFill>
                  <a:srgbClr val="093C61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093C61"/>
                </a:solidFill>
                <a:latin typeface="Microsoft Sans Serif"/>
                <a:cs typeface="Microsoft Sans Serif"/>
              </a:rPr>
              <a:t>limits</a:t>
            </a:r>
            <a:r>
              <a:rPr dirty="0" sz="1450" spc="-10">
                <a:solidFill>
                  <a:srgbClr val="093C61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85"/>
              <a:t>INTELLIGENT</a:t>
            </a:r>
            <a:r>
              <a:rPr dirty="0" spc="-145"/>
              <a:t> </a:t>
            </a:r>
            <a:r>
              <a:rPr dirty="0" spc="-120"/>
              <a:t>SELECTION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2552902"/>
            <a:ext cx="10770870" cy="63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dirty="0" sz="1650" spc="-20">
                <a:solidFill>
                  <a:srgbClr val="042033"/>
                </a:solidFill>
                <a:latin typeface="Microsoft Sans Serif"/>
                <a:cs typeface="Microsoft Sans Serif"/>
              </a:rPr>
              <a:t>The</a:t>
            </a:r>
            <a:r>
              <a:rPr dirty="0" sz="165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42033"/>
                </a:solidFill>
                <a:latin typeface="Microsoft Sans Serif"/>
                <a:cs typeface="Microsoft Sans Serif"/>
              </a:rPr>
              <a:t>platform</a:t>
            </a:r>
            <a:r>
              <a:rPr dirty="0" sz="165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042033"/>
                </a:solidFill>
                <a:latin typeface="Microsoft Sans Serif"/>
                <a:cs typeface="Microsoft Sans Serif"/>
              </a:rPr>
              <a:t>features</a:t>
            </a:r>
            <a:r>
              <a:rPr dirty="0" sz="1650" spc="-3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80">
                <a:solidFill>
                  <a:srgbClr val="042033"/>
                </a:solidFill>
                <a:latin typeface="Microsoft Sans Serif"/>
                <a:cs typeface="Microsoft Sans Serif"/>
              </a:rPr>
              <a:t>a</a:t>
            </a:r>
            <a:r>
              <a:rPr dirty="0" sz="165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85" b="1">
                <a:solidFill>
                  <a:srgbClr val="042033"/>
                </a:solidFill>
                <a:latin typeface="Arial"/>
                <a:cs typeface="Arial"/>
              </a:rPr>
              <a:t>Composite</a:t>
            </a:r>
            <a:r>
              <a:rPr dirty="0" sz="1650" spc="-80" b="1">
                <a:solidFill>
                  <a:srgbClr val="042033"/>
                </a:solidFill>
                <a:latin typeface="Arial"/>
                <a:cs typeface="Arial"/>
              </a:rPr>
              <a:t> Scorecard</a:t>
            </a:r>
            <a:r>
              <a:rPr dirty="0" sz="1650" spc="-85" b="1">
                <a:solidFill>
                  <a:srgbClr val="042033"/>
                </a:solidFill>
                <a:latin typeface="Arial"/>
                <a:cs typeface="Arial"/>
              </a:rPr>
              <a:t> </a:t>
            </a:r>
            <a:r>
              <a:rPr dirty="0" sz="1650" spc="70" b="1">
                <a:solidFill>
                  <a:srgbClr val="042033"/>
                </a:solidFill>
                <a:latin typeface="Arial"/>
                <a:cs typeface="Arial"/>
              </a:rPr>
              <a:t>(0-</a:t>
            </a:r>
            <a:r>
              <a:rPr dirty="0" sz="1650" spc="-35" b="1">
                <a:solidFill>
                  <a:srgbClr val="042033"/>
                </a:solidFill>
                <a:latin typeface="Arial"/>
                <a:cs typeface="Arial"/>
              </a:rPr>
              <a:t>100)</a:t>
            </a:r>
            <a:r>
              <a:rPr dirty="0" sz="1650" spc="-55" b="1">
                <a:solidFill>
                  <a:srgbClr val="042033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42033"/>
                </a:solidFill>
                <a:latin typeface="Microsoft Sans Serif"/>
                <a:cs typeface="Microsoft Sans Serif"/>
              </a:rPr>
              <a:t>structured</a:t>
            </a:r>
            <a:r>
              <a:rPr dirty="0" sz="165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42033"/>
                </a:solidFill>
                <a:latin typeface="Microsoft Sans Serif"/>
                <a:cs typeface="Microsoft Sans Serif"/>
              </a:rPr>
              <a:t>on</a:t>
            </a:r>
            <a:r>
              <a:rPr dirty="0" sz="1650" spc="-3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42033"/>
                </a:solidFill>
                <a:latin typeface="Microsoft Sans Serif"/>
                <a:cs typeface="Microsoft Sans Serif"/>
              </a:rPr>
              <a:t>30%</a:t>
            </a:r>
            <a:r>
              <a:rPr dirty="0" sz="165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42033"/>
                </a:solidFill>
                <a:latin typeface="Microsoft Sans Serif"/>
                <a:cs typeface="Microsoft Sans Serif"/>
              </a:rPr>
              <a:t>Historical</a:t>
            </a:r>
            <a:r>
              <a:rPr dirty="0" sz="1650" spc="-35">
                <a:solidFill>
                  <a:srgbClr val="042033"/>
                </a:solidFill>
                <a:latin typeface="Microsoft Sans Serif"/>
                <a:cs typeface="Microsoft Sans Serif"/>
              </a:rPr>
              <a:t> Returns,</a:t>
            </a:r>
            <a:r>
              <a:rPr dirty="0" sz="1650" spc="-5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42033"/>
                </a:solidFill>
                <a:latin typeface="Microsoft Sans Serif"/>
                <a:cs typeface="Microsoft Sans Serif"/>
              </a:rPr>
              <a:t>25%</a:t>
            </a:r>
            <a:r>
              <a:rPr dirty="0" sz="1650" spc="-35">
                <a:solidFill>
                  <a:srgbClr val="042033"/>
                </a:solidFill>
                <a:latin typeface="Microsoft Sans Serif"/>
                <a:cs typeface="Microsoft Sans Serif"/>
              </a:rPr>
              <a:t> Sharpe</a:t>
            </a:r>
            <a:r>
              <a:rPr dirty="0" sz="1650" spc="-4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042033"/>
                </a:solidFill>
                <a:latin typeface="Microsoft Sans Serif"/>
                <a:cs typeface="Microsoft Sans Serif"/>
              </a:rPr>
              <a:t>Metrics,</a:t>
            </a:r>
            <a:r>
              <a:rPr dirty="0" sz="1650" spc="-55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5">
                <a:solidFill>
                  <a:srgbClr val="042033"/>
                </a:solidFill>
                <a:latin typeface="Microsoft Sans Serif"/>
                <a:cs typeface="Microsoft Sans Serif"/>
              </a:rPr>
              <a:t>and </a:t>
            </a:r>
            <a:r>
              <a:rPr dirty="0" sz="1650">
                <a:solidFill>
                  <a:srgbClr val="042033"/>
                </a:solidFill>
                <a:latin typeface="Microsoft Sans Serif"/>
                <a:cs typeface="Microsoft Sans Serif"/>
              </a:rPr>
              <a:t>20%</a:t>
            </a:r>
            <a:r>
              <a:rPr dirty="0" sz="1650" spc="-2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45">
                <a:solidFill>
                  <a:srgbClr val="042033"/>
                </a:solidFill>
                <a:latin typeface="Microsoft Sans Serif"/>
                <a:cs typeface="Microsoft Sans Serif"/>
              </a:rPr>
              <a:t>Excess</a:t>
            </a:r>
            <a:r>
              <a:rPr dirty="0" sz="1650" spc="-20">
                <a:solidFill>
                  <a:srgbClr val="042033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042033"/>
                </a:solidFill>
                <a:latin typeface="Microsoft Sans Serif"/>
                <a:cs typeface="Microsoft Sans Serif"/>
              </a:rPr>
              <a:t>Alpha.</a:t>
            </a:r>
            <a:endParaRPr sz="1650">
              <a:latin typeface="Microsoft Sans Serif"/>
              <a:cs typeface="Microsoft Sans Serif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71500" y="3552825"/>
            <a:ext cx="3524250" cy="1562100"/>
            <a:chOff x="571500" y="3552825"/>
            <a:chExt cx="3524250" cy="1562100"/>
          </a:xfrm>
        </p:grpSpPr>
        <p:sp>
          <p:nvSpPr>
            <p:cNvPr id="5" name="object 5" descr=""/>
            <p:cNvSpPr/>
            <p:nvPr/>
          </p:nvSpPr>
          <p:spPr>
            <a:xfrm>
              <a:off x="576262" y="3557587"/>
              <a:ext cx="3514725" cy="1552575"/>
            </a:xfrm>
            <a:custGeom>
              <a:avLst/>
              <a:gdLst/>
              <a:ahLst/>
              <a:cxnLst/>
              <a:rect l="l" t="t" r="r" b="b"/>
              <a:pathLst>
                <a:path w="3514725" h="1552575">
                  <a:moveTo>
                    <a:pt x="3367087" y="1552575"/>
                  </a:moveTo>
                  <a:lnTo>
                    <a:pt x="147637" y="1552575"/>
                  </a:lnTo>
                  <a:lnTo>
                    <a:pt x="140384" y="1552396"/>
                  </a:lnTo>
                  <a:lnTo>
                    <a:pt x="97907" y="1543944"/>
                  </a:lnTo>
                  <a:lnTo>
                    <a:pt x="59681" y="1523516"/>
                  </a:lnTo>
                  <a:lnTo>
                    <a:pt x="29058" y="1492896"/>
                  </a:lnTo>
                  <a:lnTo>
                    <a:pt x="8626" y="1454652"/>
                  </a:lnTo>
                  <a:lnTo>
                    <a:pt x="177" y="1412191"/>
                  </a:lnTo>
                  <a:lnTo>
                    <a:pt x="0" y="1404937"/>
                  </a:lnTo>
                  <a:lnTo>
                    <a:pt x="0" y="147637"/>
                  </a:lnTo>
                  <a:lnTo>
                    <a:pt x="6355" y="104798"/>
                  </a:lnTo>
                  <a:lnTo>
                    <a:pt x="24881" y="65627"/>
                  </a:lnTo>
                  <a:lnTo>
                    <a:pt x="53975" y="33516"/>
                  </a:lnTo>
                  <a:lnTo>
                    <a:pt x="91139" y="11239"/>
                  </a:lnTo>
                  <a:lnTo>
                    <a:pt x="133166" y="714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44" y="6369"/>
                  </a:lnTo>
                  <a:lnTo>
                    <a:pt x="3449107" y="24860"/>
                  </a:lnTo>
                  <a:lnTo>
                    <a:pt x="3481213" y="53971"/>
                  </a:lnTo>
                  <a:lnTo>
                    <a:pt x="3503485" y="91154"/>
                  </a:lnTo>
                  <a:lnTo>
                    <a:pt x="3514016" y="133147"/>
                  </a:lnTo>
                  <a:lnTo>
                    <a:pt x="3514725" y="147637"/>
                  </a:lnTo>
                  <a:lnTo>
                    <a:pt x="3514725" y="1404937"/>
                  </a:lnTo>
                  <a:lnTo>
                    <a:pt x="3508371" y="1447776"/>
                  </a:lnTo>
                  <a:lnTo>
                    <a:pt x="3489845" y="1486947"/>
                  </a:lnTo>
                  <a:lnTo>
                    <a:pt x="3460748" y="1519058"/>
                  </a:lnTo>
                  <a:lnTo>
                    <a:pt x="3423589" y="1541335"/>
                  </a:lnTo>
                  <a:lnTo>
                    <a:pt x="3381560" y="1551860"/>
                  </a:lnTo>
                  <a:lnTo>
                    <a:pt x="3367087" y="155257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6262" y="3557587"/>
              <a:ext cx="3514725" cy="1552575"/>
            </a:xfrm>
            <a:custGeom>
              <a:avLst/>
              <a:gdLst/>
              <a:ahLst/>
              <a:cxnLst/>
              <a:rect l="l" t="t" r="r" b="b"/>
              <a:pathLst>
                <a:path w="3514725" h="1552575">
                  <a:moveTo>
                    <a:pt x="0" y="1404937"/>
                  </a:moveTo>
                  <a:lnTo>
                    <a:pt x="0" y="147637"/>
                  </a:lnTo>
                  <a:lnTo>
                    <a:pt x="177" y="140370"/>
                  </a:lnTo>
                  <a:lnTo>
                    <a:pt x="8626" y="97922"/>
                  </a:lnTo>
                  <a:lnTo>
                    <a:pt x="29058" y="59678"/>
                  </a:lnTo>
                  <a:lnTo>
                    <a:pt x="59681" y="29058"/>
                  </a:lnTo>
                  <a:lnTo>
                    <a:pt x="97907" y="8630"/>
                  </a:lnTo>
                  <a:lnTo>
                    <a:pt x="140384" y="178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44" y="6369"/>
                  </a:lnTo>
                  <a:lnTo>
                    <a:pt x="3449107" y="24860"/>
                  </a:lnTo>
                  <a:lnTo>
                    <a:pt x="3481213" y="53971"/>
                  </a:lnTo>
                  <a:lnTo>
                    <a:pt x="3503485" y="91154"/>
                  </a:lnTo>
                  <a:lnTo>
                    <a:pt x="3514016" y="133147"/>
                  </a:lnTo>
                  <a:lnTo>
                    <a:pt x="3514725" y="147637"/>
                  </a:lnTo>
                  <a:lnTo>
                    <a:pt x="3514725" y="1404937"/>
                  </a:lnTo>
                  <a:lnTo>
                    <a:pt x="3508371" y="1447776"/>
                  </a:lnTo>
                  <a:lnTo>
                    <a:pt x="3489845" y="1486947"/>
                  </a:lnTo>
                  <a:lnTo>
                    <a:pt x="3460748" y="1519058"/>
                  </a:lnTo>
                  <a:lnTo>
                    <a:pt x="3423589" y="1541335"/>
                  </a:lnTo>
                  <a:lnTo>
                    <a:pt x="3381560" y="1551860"/>
                  </a:lnTo>
                  <a:lnTo>
                    <a:pt x="3367087" y="1552575"/>
                  </a:lnTo>
                  <a:lnTo>
                    <a:pt x="147637" y="1552575"/>
                  </a:lnTo>
                  <a:lnTo>
                    <a:pt x="104780" y="1546205"/>
                  </a:lnTo>
                  <a:lnTo>
                    <a:pt x="65613" y="1527714"/>
                  </a:lnTo>
                  <a:lnTo>
                    <a:pt x="33510" y="1498603"/>
                  </a:lnTo>
                  <a:lnTo>
                    <a:pt x="11238" y="1461420"/>
                  </a:lnTo>
                  <a:lnTo>
                    <a:pt x="709" y="1419391"/>
                  </a:lnTo>
                  <a:lnTo>
                    <a:pt x="0" y="1404937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325" y="3822700"/>
              <a:ext cx="18415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806450" y="3645823"/>
            <a:ext cx="2983230" cy="954405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314960">
              <a:lnSpc>
                <a:spcPct val="100000"/>
              </a:lnSpc>
              <a:spcBef>
                <a:spcPts val="1115"/>
              </a:spcBef>
            </a:pPr>
            <a:r>
              <a:rPr dirty="0" sz="1600" spc="-125" b="1">
                <a:solidFill>
                  <a:srgbClr val="093C61"/>
                </a:solidFill>
                <a:latin typeface="Gill Sans MT"/>
                <a:cs typeface="Gill Sans MT"/>
              </a:rPr>
              <a:t>Low</a:t>
            </a:r>
            <a:r>
              <a:rPr dirty="0" sz="1600" spc="-140" b="1">
                <a:solidFill>
                  <a:srgbClr val="093C61"/>
                </a:solidFill>
                <a:latin typeface="Gill Sans MT"/>
                <a:cs typeface="Gill Sans MT"/>
              </a:rPr>
              <a:t> </a:t>
            </a:r>
            <a:r>
              <a:rPr dirty="0" sz="1600" spc="-20" b="1">
                <a:solidFill>
                  <a:srgbClr val="093C61"/>
                </a:solidFill>
                <a:latin typeface="Gill Sans MT"/>
                <a:cs typeface="Gill Sans MT"/>
              </a:rPr>
              <a:t>Risk</a:t>
            </a:r>
            <a:endParaRPr sz="1600">
              <a:latin typeface="Gill Sans MT"/>
              <a:cs typeface="Gill Sans MT"/>
            </a:endParaRPr>
          </a:p>
          <a:p>
            <a:pPr marL="12700" marR="5080">
              <a:lnSpc>
                <a:spcPct val="125000"/>
              </a:lnSpc>
              <a:spcBef>
                <a:spcPts val="465"/>
              </a:spcBef>
            </a:pP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Liquid</a:t>
            </a:r>
            <a:r>
              <a:rPr dirty="0" sz="13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Funds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strategy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optimized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for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short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capital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horizons</a:t>
            </a:r>
            <a:r>
              <a:rPr dirty="0" sz="130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(&lt;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40">
                <a:solidFill>
                  <a:srgbClr val="4A6583"/>
                </a:solidFill>
                <a:latin typeface="Microsoft Sans Serif"/>
                <a:cs typeface="Microsoft Sans Serif"/>
              </a:rPr>
              <a:t>1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50">
                <a:solidFill>
                  <a:srgbClr val="4A6583"/>
                </a:solidFill>
                <a:latin typeface="Microsoft Sans Serif"/>
                <a:cs typeface="Microsoft Sans Serif"/>
              </a:rPr>
              <a:t>Year</a:t>
            </a:r>
            <a:r>
              <a:rPr dirty="0" sz="130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allocation).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333875" y="3552825"/>
            <a:ext cx="3524250" cy="1562100"/>
            <a:chOff x="4333875" y="3552825"/>
            <a:chExt cx="3524250" cy="1562100"/>
          </a:xfrm>
        </p:grpSpPr>
        <p:sp>
          <p:nvSpPr>
            <p:cNvPr id="10" name="object 10" descr=""/>
            <p:cNvSpPr/>
            <p:nvPr/>
          </p:nvSpPr>
          <p:spPr>
            <a:xfrm>
              <a:off x="4338637" y="3557587"/>
              <a:ext cx="3514725" cy="1552575"/>
            </a:xfrm>
            <a:custGeom>
              <a:avLst/>
              <a:gdLst/>
              <a:ahLst/>
              <a:cxnLst/>
              <a:rect l="l" t="t" r="r" b="b"/>
              <a:pathLst>
                <a:path w="3514725" h="1552575">
                  <a:moveTo>
                    <a:pt x="3367087" y="1552575"/>
                  </a:moveTo>
                  <a:lnTo>
                    <a:pt x="147637" y="1552575"/>
                  </a:lnTo>
                  <a:lnTo>
                    <a:pt x="140383" y="1552396"/>
                  </a:lnTo>
                  <a:lnTo>
                    <a:pt x="97907" y="1543944"/>
                  </a:lnTo>
                  <a:lnTo>
                    <a:pt x="59681" y="1523516"/>
                  </a:lnTo>
                  <a:lnTo>
                    <a:pt x="29058" y="1492896"/>
                  </a:lnTo>
                  <a:lnTo>
                    <a:pt x="8624" y="1454652"/>
                  </a:lnTo>
                  <a:lnTo>
                    <a:pt x="176" y="1412191"/>
                  </a:lnTo>
                  <a:lnTo>
                    <a:pt x="0" y="1404937"/>
                  </a:lnTo>
                  <a:lnTo>
                    <a:pt x="0" y="147637"/>
                  </a:lnTo>
                  <a:lnTo>
                    <a:pt x="6353" y="104798"/>
                  </a:lnTo>
                  <a:lnTo>
                    <a:pt x="24879" y="65627"/>
                  </a:lnTo>
                  <a:lnTo>
                    <a:pt x="53973" y="33516"/>
                  </a:lnTo>
                  <a:lnTo>
                    <a:pt x="91135" y="11239"/>
                  </a:lnTo>
                  <a:lnTo>
                    <a:pt x="133164" y="714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42" y="6369"/>
                  </a:lnTo>
                  <a:lnTo>
                    <a:pt x="3449107" y="24860"/>
                  </a:lnTo>
                  <a:lnTo>
                    <a:pt x="3481213" y="53971"/>
                  </a:lnTo>
                  <a:lnTo>
                    <a:pt x="3503485" y="91154"/>
                  </a:lnTo>
                  <a:lnTo>
                    <a:pt x="3514016" y="133147"/>
                  </a:lnTo>
                  <a:lnTo>
                    <a:pt x="3514725" y="147637"/>
                  </a:lnTo>
                  <a:lnTo>
                    <a:pt x="3514725" y="1404937"/>
                  </a:lnTo>
                  <a:lnTo>
                    <a:pt x="3508371" y="1447776"/>
                  </a:lnTo>
                  <a:lnTo>
                    <a:pt x="3489845" y="1486947"/>
                  </a:lnTo>
                  <a:lnTo>
                    <a:pt x="3460744" y="1519058"/>
                  </a:lnTo>
                  <a:lnTo>
                    <a:pt x="3423580" y="1541335"/>
                  </a:lnTo>
                  <a:lnTo>
                    <a:pt x="3381560" y="1551860"/>
                  </a:lnTo>
                  <a:lnTo>
                    <a:pt x="3367087" y="155257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38637" y="3557587"/>
              <a:ext cx="3514725" cy="1552575"/>
            </a:xfrm>
            <a:custGeom>
              <a:avLst/>
              <a:gdLst/>
              <a:ahLst/>
              <a:cxnLst/>
              <a:rect l="l" t="t" r="r" b="b"/>
              <a:pathLst>
                <a:path w="3514725" h="1552575">
                  <a:moveTo>
                    <a:pt x="0" y="1404937"/>
                  </a:moveTo>
                  <a:lnTo>
                    <a:pt x="0" y="147637"/>
                  </a:lnTo>
                  <a:lnTo>
                    <a:pt x="176" y="140370"/>
                  </a:lnTo>
                  <a:lnTo>
                    <a:pt x="8624" y="97922"/>
                  </a:lnTo>
                  <a:lnTo>
                    <a:pt x="29058" y="59678"/>
                  </a:lnTo>
                  <a:lnTo>
                    <a:pt x="59681" y="29058"/>
                  </a:lnTo>
                  <a:lnTo>
                    <a:pt x="97907" y="8630"/>
                  </a:lnTo>
                  <a:lnTo>
                    <a:pt x="140383" y="178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42" y="6369"/>
                  </a:lnTo>
                  <a:lnTo>
                    <a:pt x="3449107" y="24860"/>
                  </a:lnTo>
                  <a:lnTo>
                    <a:pt x="3481213" y="53971"/>
                  </a:lnTo>
                  <a:lnTo>
                    <a:pt x="3503485" y="91154"/>
                  </a:lnTo>
                  <a:lnTo>
                    <a:pt x="3514016" y="133147"/>
                  </a:lnTo>
                  <a:lnTo>
                    <a:pt x="3514725" y="147637"/>
                  </a:lnTo>
                  <a:lnTo>
                    <a:pt x="3514725" y="1404937"/>
                  </a:lnTo>
                  <a:lnTo>
                    <a:pt x="3508371" y="1447776"/>
                  </a:lnTo>
                  <a:lnTo>
                    <a:pt x="3489845" y="1486947"/>
                  </a:lnTo>
                  <a:lnTo>
                    <a:pt x="3460744" y="1519058"/>
                  </a:lnTo>
                  <a:lnTo>
                    <a:pt x="3423580" y="1541335"/>
                  </a:lnTo>
                  <a:lnTo>
                    <a:pt x="3381560" y="1551860"/>
                  </a:lnTo>
                  <a:lnTo>
                    <a:pt x="3367087" y="1552575"/>
                  </a:lnTo>
                  <a:lnTo>
                    <a:pt x="147637" y="1552575"/>
                  </a:lnTo>
                  <a:lnTo>
                    <a:pt x="104780" y="1546205"/>
                  </a:lnTo>
                  <a:lnTo>
                    <a:pt x="65617" y="1527714"/>
                  </a:lnTo>
                  <a:lnTo>
                    <a:pt x="33511" y="1498603"/>
                  </a:lnTo>
                  <a:lnTo>
                    <a:pt x="11239" y="1461420"/>
                  </a:lnTo>
                  <a:lnTo>
                    <a:pt x="708" y="1419391"/>
                  </a:lnTo>
                  <a:lnTo>
                    <a:pt x="0" y="1404937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8350" y="3822700"/>
              <a:ext cx="244475" cy="193675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4568825" y="3645823"/>
            <a:ext cx="2939415" cy="1192530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362585">
              <a:lnSpc>
                <a:spcPct val="100000"/>
              </a:lnSpc>
              <a:spcBef>
                <a:spcPts val="1115"/>
              </a:spcBef>
            </a:pPr>
            <a:r>
              <a:rPr dirty="0" sz="1600" spc="-10" b="1">
                <a:solidFill>
                  <a:srgbClr val="093C61"/>
                </a:solidFill>
                <a:latin typeface="Gill Sans MT"/>
                <a:cs typeface="Gill Sans MT"/>
              </a:rPr>
              <a:t>Moderate</a:t>
            </a:r>
            <a:endParaRPr sz="1600">
              <a:latin typeface="Gill Sans MT"/>
              <a:cs typeface="Gill Sans MT"/>
            </a:endParaRPr>
          </a:p>
          <a:p>
            <a:pPr marL="12700" marR="5080">
              <a:lnSpc>
                <a:spcPct val="122600"/>
              </a:lnSpc>
              <a:spcBef>
                <a:spcPts val="505"/>
              </a:spcBef>
            </a:pP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Core</a:t>
            </a:r>
            <a:r>
              <a:rPr dirty="0" sz="13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Large-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Cap</a:t>
            </a:r>
            <a:r>
              <a:rPr dirty="0" sz="13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tracking</a:t>
            </a:r>
            <a:r>
              <a:rPr dirty="0" sz="13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structures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focusing</a:t>
            </a:r>
            <a:r>
              <a:rPr dirty="0" sz="130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on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consistent</a:t>
            </a:r>
            <a:r>
              <a:rPr dirty="0" sz="130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operational 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index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alpha</a:t>
            </a:r>
            <a:r>
              <a:rPr dirty="0" sz="1300" spc="-7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benchmarks.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096250" y="3552825"/>
            <a:ext cx="3524250" cy="1562100"/>
            <a:chOff x="8096250" y="3552825"/>
            <a:chExt cx="3524250" cy="1562100"/>
          </a:xfrm>
        </p:grpSpPr>
        <p:sp>
          <p:nvSpPr>
            <p:cNvPr id="15" name="object 15" descr=""/>
            <p:cNvSpPr/>
            <p:nvPr/>
          </p:nvSpPr>
          <p:spPr>
            <a:xfrm>
              <a:off x="8101012" y="3557587"/>
              <a:ext cx="3514725" cy="1552575"/>
            </a:xfrm>
            <a:custGeom>
              <a:avLst/>
              <a:gdLst/>
              <a:ahLst/>
              <a:cxnLst/>
              <a:rect l="l" t="t" r="r" b="b"/>
              <a:pathLst>
                <a:path w="3514725" h="1552575">
                  <a:moveTo>
                    <a:pt x="3367087" y="1552575"/>
                  </a:moveTo>
                  <a:lnTo>
                    <a:pt x="147637" y="1552575"/>
                  </a:lnTo>
                  <a:lnTo>
                    <a:pt x="140383" y="1552396"/>
                  </a:lnTo>
                  <a:lnTo>
                    <a:pt x="97903" y="1543944"/>
                  </a:lnTo>
                  <a:lnTo>
                    <a:pt x="59681" y="1523516"/>
                  </a:lnTo>
                  <a:lnTo>
                    <a:pt x="29058" y="1492896"/>
                  </a:lnTo>
                  <a:lnTo>
                    <a:pt x="8624" y="1454652"/>
                  </a:lnTo>
                  <a:lnTo>
                    <a:pt x="176" y="1412191"/>
                  </a:lnTo>
                  <a:lnTo>
                    <a:pt x="0" y="1404937"/>
                  </a:lnTo>
                  <a:lnTo>
                    <a:pt x="0" y="147637"/>
                  </a:lnTo>
                  <a:lnTo>
                    <a:pt x="6353" y="104798"/>
                  </a:lnTo>
                  <a:lnTo>
                    <a:pt x="24879" y="65627"/>
                  </a:lnTo>
                  <a:lnTo>
                    <a:pt x="53973" y="33516"/>
                  </a:lnTo>
                  <a:lnTo>
                    <a:pt x="91135" y="11239"/>
                  </a:lnTo>
                  <a:lnTo>
                    <a:pt x="133164" y="714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26" y="6369"/>
                  </a:lnTo>
                  <a:lnTo>
                    <a:pt x="3449097" y="24860"/>
                  </a:lnTo>
                  <a:lnTo>
                    <a:pt x="3481208" y="53971"/>
                  </a:lnTo>
                  <a:lnTo>
                    <a:pt x="3503485" y="91154"/>
                  </a:lnTo>
                  <a:lnTo>
                    <a:pt x="3514010" y="133147"/>
                  </a:lnTo>
                  <a:lnTo>
                    <a:pt x="3514725" y="147637"/>
                  </a:lnTo>
                  <a:lnTo>
                    <a:pt x="3514725" y="1404937"/>
                  </a:lnTo>
                  <a:lnTo>
                    <a:pt x="3508355" y="1447776"/>
                  </a:lnTo>
                  <a:lnTo>
                    <a:pt x="3489864" y="1486947"/>
                  </a:lnTo>
                  <a:lnTo>
                    <a:pt x="3460753" y="1519058"/>
                  </a:lnTo>
                  <a:lnTo>
                    <a:pt x="3423570" y="1541335"/>
                  </a:lnTo>
                  <a:lnTo>
                    <a:pt x="3381577" y="1551860"/>
                  </a:lnTo>
                  <a:lnTo>
                    <a:pt x="3367087" y="155257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101012" y="3557587"/>
              <a:ext cx="3514725" cy="1552575"/>
            </a:xfrm>
            <a:custGeom>
              <a:avLst/>
              <a:gdLst/>
              <a:ahLst/>
              <a:cxnLst/>
              <a:rect l="l" t="t" r="r" b="b"/>
              <a:pathLst>
                <a:path w="3514725" h="1552575">
                  <a:moveTo>
                    <a:pt x="0" y="1404937"/>
                  </a:moveTo>
                  <a:lnTo>
                    <a:pt x="0" y="147637"/>
                  </a:lnTo>
                  <a:lnTo>
                    <a:pt x="176" y="140370"/>
                  </a:lnTo>
                  <a:lnTo>
                    <a:pt x="8624" y="97922"/>
                  </a:lnTo>
                  <a:lnTo>
                    <a:pt x="29058" y="59678"/>
                  </a:lnTo>
                  <a:lnTo>
                    <a:pt x="59681" y="29058"/>
                  </a:lnTo>
                  <a:lnTo>
                    <a:pt x="97907" y="8630"/>
                  </a:lnTo>
                  <a:lnTo>
                    <a:pt x="140383" y="178"/>
                  </a:lnTo>
                  <a:lnTo>
                    <a:pt x="147637" y="0"/>
                  </a:lnTo>
                  <a:lnTo>
                    <a:pt x="3367087" y="0"/>
                  </a:lnTo>
                  <a:lnTo>
                    <a:pt x="3409926" y="6369"/>
                  </a:lnTo>
                  <a:lnTo>
                    <a:pt x="3449097" y="24860"/>
                  </a:lnTo>
                  <a:lnTo>
                    <a:pt x="3481208" y="53971"/>
                  </a:lnTo>
                  <a:lnTo>
                    <a:pt x="3503485" y="91154"/>
                  </a:lnTo>
                  <a:lnTo>
                    <a:pt x="3514010" y="133147"/>
                  </a:lnTo>
                  <a:lnTo>
                    <a:pt x="3514725" y="147637"/>
                  </a:lnTo>
                  <a:lnTo>
                    <a:pt x="3514725" y="1404937"/>
                  </a:lnTo>
                  <a:lnTo>
                    <a:pt x="3508355" y="1447776"/>
                  </a:lnTo>
                  <a:lnTo>
                    <a:pt x="3489864" y="1486947"/>
                  </a:lnTo>
                  <a:lnTo>
                    <a:pt x="3460753" y="1519058"/>
                  </a:lnTo>
                  <a:lnTo>
                    <a:pt x="3423570" y="1541335"/>
                  </a:lnTo>
                  <a:lnTo>
                    <a:pt x="3381577" y="1551860"/>
                  </a:lnTo>
                  <a:lnTo>
                    <a:pt x="3367087" y="1552575"/>
                  </a:lnTo>
                  <a:lnTo>
                    <a:pt x="147637" y="1552575"/>
                  </a:lnTo>
                  <a:lnTo>
                    <a:pt x="104777" y="1546205"/>
                  </a:lnTo>
                  <a:lnTo>
                    <a:pt x="65617" y="1527714"/>
                  </a:lnTo>
                  <a:lnTo>
                    <a:pt x="33511" y="1498603"/>
                  </a:lnTo>
                  <a:lnTo>
                    <a:pt x="11239" y="1461420"/>
                  </a:lnTo>
                  <a:lnTo>
                    <a:pt x="708" y="1419391"/>
                  </a:lnTo>
                  <a:lnTo>
                    <a:pt x="0" y="1404937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0725" y="3822700"/>
              <a:ext cx="196850" cy="193675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8331200" y="3645823"/>
            <a:ext cx="2873375" cy="1192530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314960">
              <a:lnSpc>
                <a:spcPct val="100000"/>
              </a:lnSpc>
              <a:spcBef>
                <a:spcPts val="1115"/>
              </a:spcBef>
            </a:pPr>
            <a:r>
              <a:rPr dirty="0" sz="1600" spc="-100" b="1">
                <a:solidFill>
                  <a:srgbClr val="093C61"/>
                </a:solidFill>
                <a:latin typeface="Gill Sans MT"/>
                <a:cs typeface="Gill Sans MT"/>
              </a:rPr>
              <a:t>High</a:t>
            </a:r>
            <a:r>
              <a:rPr dirty="0" sz="1600" spc="-175" b="1">
                <a:solidFill>
                  <a:srgbClr val="093C61"/>
                </a:solidFill>
                <a:latin typeface="Gill Sans MT"/>
                <a:cs typeface="Gill Sans MT"/>
              </a:rPr>
              <a:t> </a:t>
            </a:r>
            <a:r>
              <a:rPr dirty="0" sz="1600" spc="-10" b="1">
                <a:solidFill>
                  <a:srgbClr val="093C61"/>
                </a:solidFill>
                <a:latin typeface="Gill Sans MT"/>
                <a:cs typeface="Gill Sans MT"/>
              </a:rPr>
              <a:t>Alpha</a:t>
            </a:r>
            <a:endParaRPr sz="1600">
              <a:latin typeface="Gill Sans MT"/>
              <a:cs typeface="Gill Sans MT"/>
            </a:endParaRPr>
          </a:p>
          <a:p>
            <a:pPr marL="12700" marR="5080">
              <a:lnSpc>
                <a:spcPct val="122600"/>
              </a:lnSpc>
              <a:spcBef>
                <a:spcPts val="505"/>
              </a:spcBef>
            </a:pP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Emerging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Small-Cap</a:t>
            </a:r>
            <a:r>
              <a:rPr dirty="0" sz="13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allocations 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scaling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equity</a:t>
            </a:r>
            <a:r>
              <a:rPr dirty="0" sz="13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visibility</a:t>
            </a:r>
            <a:r>
              <a:rPr dirty="0" sz="13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over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expanded</a:t>
            </a:r>
            <a:r>
              <a:rPr dirty="0" sz="13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holding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time</a:t>
            </a:r>
            <a:r>
              <a:rPr dirty="0" sz="13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frames</a:t>
            </a:r>
            <a:r>
              <a:rPr dirty="0" sz="13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(5</a:t>
            </a:r>
            <a:r>
              <a:rPr dirty="0" sz="13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Years+).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531400"/>
            <a:ext cx="5448935" cy="492759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35"/>
              <a:t>INVESTOR</a:t>
            </a:r>
            <a:r>
              <a:rPr dirty="0" spc="-85"/>
              <a:t> </a:t>
            </a:r>
            <a:r>
              <a:rPr dirty="0" spc="-150"/>
              <a:t>BEHAVIOR</a:t>
            </a:r>
            <a:r>
              <a:rPr dirty="0" spc="-140"/>
              <a:t> </a:t>
            </a:r>
            <a:r>
              <a:rPr dirty="0" spc="-120"/>
              <a:t>TRENDS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500" y="2628900"/>
            <a:ext cx="5381625" cy="2466975"/>
            <a:chOff x="571500" y="2628900"/>
            <a:chExt cx="5381625" cy="2466975"/>
          </a:xfrm>
        </p:grpSpPr>
        <p:sp>
          <p:nvSpPr>
            <p:cNvPr id="4" name="object 4" descr=""/>
            <p:cNvSpPr/>
            <p:nvPr/>
          </p:nvSpPr>
          <p:spPr>
            <a:xfrm>
              <a:off x="576262" y="2633662"/>
              <a:ext cx="5372100" cy="2457450"/>
            </a:xfrm>
            <a:custGeom>
              <a:avLst/>
              <a:gdLst/>
              <a:ahLst/>
              <a:cxnLst/>
              <a:rect l="l" t="t" r="r" b="b"/>
              <a:pathLst>
                <a:path w="5372100" h="2457450">
                  <a:moveTo>
                    <a:pt x="5224462" y="2457450"/>
                  </a:moveTo>
                  <a:lnTo>
                    <a:pt x="147637" y="2457450"/>
                  </a:lnTo>
                  <a:lnTo>
                    <a:pt x="140384" y="2457271"/>
                  </a:lnTo>
                  <a:lnTo>
                    <a:pt x="97907" y="2448819"/>
                  </a:lnTo>
                  <a:lnTo>
                    <a:pt x="59681" y="2428391"/>
                  </a:lnTo>
                  <a:lnTo>
                    <a:pt x="29058" y="2397771"/>
                  </a:lnTo>
                  <a:lnTo>
                    <a:pt x="8626" y="2359527"/>
                  </a:lnTo>
                  <a:lnTo>
                    <a:pt x="177" y="2317079"/>
                  </a:lnTo>
                  <a:lnTo>
                    <a:pt x="0" y="2309812"/>
                  </a:lnTo>
                  <a:lnTo>
                    <a:pt x="0" y="147637"/>
                  </a:lnTo>
                  <a:lnTo>
                    <a:pt x="6355" y="104798"/>
                  </a:lnTo>
                  <a:lnTo>
                    <a:pt x="24881" y="65627"/>
                  </a:lnTo>
                  <a:lnTo>
                    <a:pt x="53975" y="33516"/>
                  </a:lnTo>
                  <a:lnTo>
                    <a:pt x="91139" y="11239"/>
                  </a:lnTo>
                  <a:lnTo>
                    <a:pt x="133166" y="714"/>
                  </a:lnTo>
                  <a:lnTo>
                    <a:pt x="147637" y="0"/>
                  </a:lnTo>
                  <a:lnTo>
                    <a:pt x="5224462" y="0"/>
                  </a:lnTo>
                  <a:lnTo>
                    <a:pt x="5267317" y="6369"/>
                  </a:lnTo>
                  <a:lnTo>
                    <a:pt x="5306482" y="24860"/>
                  </a:lnTo>
                  <a:lnTo>
                    <a:pt x="5338588" y="53971"/>
                  </a:lnTo>
                  <a:lnTo>
                    <a:pt x="5360860" y="91154"/>
                  </a:lnTo>
                  <a:lnTo>
                    <a:pt x="5371391" y="133147"/>
                  </a:lnTo>
                  <a:lnTo>
                    <a:pt x="5372100" y="147637"/>
                  </a:lnTo>
                  <a:lnTo>
                    <a:pt x="5372100" y="2309812"/>
                  </a:lnTo>
                  <a:lnTo>
                    <a:pt x="5365743" y="2352651"/>
                  </a:lnTo>
                  <a:lnTo>
                    <a:pt x="5347220" y="2391822"/>
                  </a:lnTo>
                  <a:lnTo>
                    <a:pt x="5318119" y="2423933"/>
                  </a:lnTo>
                  <a:lnTo>
                    <a:pt x="5280955" y="2446210"/>
                  </a:lnTo>
                  <a:lnTo>
                    <a:pt x="5238935" y="2456735"/>
                  </a:lnTo>
                  <a:lnTo>
                    <a:pt x="5224462" y="245745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6262" y="2633662"/>
              <a:ext cx="5372100" cy="2457450"/>
            </a:xfrm>
            <a:custGeom>
              <a:avLst/>
              <a:gdLst/>
              <a:ahLst/>
              <a:cxnLst/>
              <a:rect l="l" t="t" r="r" b="b"/>
              <a:pathLst>
                <a:path w="5372100" h="2457450">
                  <a:moveTo>
                    <a:pt x="0" y="2309812"/>
                  </a:moveTo>
                  <a:lnTo>
                    <a:pt x="0" y="147637"/>
                  </a:lnTo>
                  <a:lnTo>
                    <a:pt x="177" y="140370"/>
                  </a:lnTo>
                  <a:lnTo>
                    <a:pt x="8626" y="97922"/>
                  </a:lnTo>
                  <a:lnTo>
                    <a:pt x="29058" y="59678"/>
                  </a:lnTo>
                  <a:lnTo>
                    <a:pt x="59681" y="29058"/>
                  </a:lnTo>
                  <a:lnTo>
                    <a:pt x="97907" y="8630"/>
                  </a:lnTo>
                  <a:lnTo>
                    <a:pt x="140384" y="178"/>
                  </a:lnTo>
                  <a:lnTo>
                    <a:pt x="147637" y="0"/>
                  </a:lnTo>
                  <a:lnTo>
                    <a:pt x="5224462" y="0"/>
                  </a:lnTo>
                  <a:lnTo>
                    <a:pt x="5267317" y="6369"/>
                  </a:lnTo>
                  <a:lnTo>
                    <a:pt x="5306482" y="24860"/>
                  </a:lnTo>
                  <a:lnTo>
                    <a:pt x="5338588" y="53971"/>
                  </a:lnTo>
                  <a:lnTo>
                    <a:pt x="5360860" y="91154"/>
                  </a:lnTo>
                  <a:lnTo>
                    <a:pt x="5371391" y="133147"/>
                  </a:lnTo>
                  <a:lnTo>
                    <a:pt x="5372100" y="147637"/>
                  </a:lnTo>
                  <a:lnTo>
                    <a:pt x="5372100" y="2309812"/>
                  </a:lnTo>
                  <a:lnTo>
                    <a:pt x="5365743" y="2352651"/>
                  </a:lnTo>
                  <a:lnTo>
                    <a:pt x="5347220" y="2391822"/>
                  </a:lnTo>
                  <a:lnTo>
                    <a:pt x="5318119" y="2423933"/>
                  </a:lnTo>
                  <a:lnTo>
                    <a:pt x="5280955" y="2446210"/>
                  </a:lnTo>
                  <a:lnTo>
                    <a:pt x="5238935" y="2456735"/>
                  </a:lnTo>
                  <a:lnTo>
                    <a:pt x="5224462" y="2457450"/>
                  </a:lnTo>
                  <a:lnTo>
                    <a:pt x="147637" y="2457450"/>
                  </a:lnTo>
                  <a:lnTo>
                    <a:pt x="104780" y="2451080"/>
                  </a:lnTo>
                  <a:lnTo>
                    <a:pt x="65613" y="2432589"/>
                  </a:lnTo>
                  <a:lnTo>
                    <a:pt x="33510" y="2403478"/>
                  </a:lnTo>
                  <a:lnTo>
                    <a:pt x="11238" y="2366295"/>
                  </a:lnTo>
                  <a:lnTo>
                    <a:pt x="709" y="2324302"/>
                  </a:lnTo>
                  <a:lnTo>
                    <a:pt x="0" y="230981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2997200"/>
              <a:ext cx="209550" cy="21272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901700" y="2941162"/>
            <a:ext cx="4648200" cy="15011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>
              <a:lnSpc>
                <a:spcPct val="100000"/>
              </a:lnSpc>
              <a:spcBef>
                <a:spcPts val="90"/>
              </a:spcBef>
            </a:pPr>
            <a:r>
              <a:rPr dirty="0" sz="1800" spc="-90" b="1">
                <a:solidFill>
                  <a:srgbClr val="093C61"/>
                </a:solidFill>
                <a:latin typeface="Gill Sans MT"/>
                <a:cs typeface="Gill Sans MT"/>
              </a:rPr>
              <a:t>Geographic</a:t>
            </a:r>
            <a:r>
              <a:rPr dirty="0" sz="1800" spc="-135" b="1">
                <a:solidFill>
                  <a:srgbClr val="093C61"/>
                </a:solidFill>
                <a:latin typeface="Gill Sans MT"/>
                <a:cs typeface="Gill Sans MT"/>
              </a:rPr>
              <a:t> </a:t>
            </a:r>
            <a:r>
              <a:rPr dirty="0" sz="1800" spc="-20" b="1">
                <a:solidFill>
                  <a:srgbClr val="093C61"/>
                </a:solidFill>
                <a:latin typeface="Gill Sans MT"/>
                <a:cs typeface="Gill Sans MT"/>
              </a:rPr>
              <a:t>Focus</a:t>
            </a:r>
            <a:endParaRPr sz="1800">
              <a:latin typeface="Gill Sans MT"/>
              <a:cs typeface="Gill Sans MT"/>
            </a:endParaRPr>
          </a:p>
          <a:p>
            <a:pPr marL="12700" marR="5080">
              <a:lnSpc>
                <a:spcPct val="119400"/>
              </a:lnSpc>
              <a:spcBef>
                <a:spcPts val="865"/>
              </a:spcBef>
            </a:pPr>
            <a:r>
              <a:rPr dirty="0" sz="1500" spc="-55">
                <a:solidFill>
                  <a:srgbClr val="4A6583"/>
                </a:solidFill>
                <a:latin typeface="Microsoft Sans Serif"/>
                <a:cs typeface="Microsoft Sans Serif"/>
              </a:rPr>
              <a:t>Top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investing</a:t>
            </a:r>
            <a:r>
              <a:rPr dirty="0" sz="1500" spc="-6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states</a:t>
            </a:r>
            <a:r>
              <a:rPr dirty="0" sz="1450" spc="-25">
                <a:solidFill>
                  <a:srgbClr val="4A6583"/>
                </a:solidFill>
                <a:latin typeface="Microsoft Sans Serif"/>
                <a:cs typeface="Microsoft Sans Serif"/>
              </a:rPr>
              <a:t>:</a:t>
            </a:r>
            <a:r>
              <a:rPr dirty="0" sz="145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Punjab</a:t>
            </a:r>
            <a:r>
              <a:rPr dirty="0" sz="1450" spc="-45">
                <a:solidFill>
                  <a:srgbClr val="4A6583"/>
                </a:solidFill>
                <a:latin typeface="Microsoft Sans Serif"/>
                <a:cs typeface="Microsoft Sans Serif"/>
              </a:rPr>
              <a:t>,</a:t>
            </a:r>
            <a:r>
              <a:rPr dirty="0" sz="145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70">
                <a:solidFill>
                  <a:srgbClr val="4A6583"/>
                </a:solidFill>
                <a:latin typeface="Microsoft Sans Serif"/>
                <a:cs typeface="Microsoft Sans Serif"/>
              </a:rPr>
              <a:t>Tamil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Nadu</a:t>
            </a:r>
            <a:r>
              <a:rPr dirty="0" sz="1450" spc="-35">
                <a:solidFill>
                  <a:srgbClr val="4A6583"/>
                </a:solidFill>
                <a:latin typeface="Microsoft Sans Serif"/>
                <a:cs typeface="Microsoft Sans Serif"/>
              </a:rPr>
              <a:t>, 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Madhya </a:t>
            </a:r>
            <a:r>
              <a:rPr dirty="0" sz="1500" spc="-55">
                <a:solidFill>
                  <a:srgbClr val="4A6583"/>
                </a:solidFill>
                <a:latin typeface="Microsoft Sans Serif"/>
                <a:cs typeface="Microsoft Sans Serif"/>
              </a:rPr>
              <a:t>Pradesh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lead</a:t>
            </a:r>
            <a:r>
              <a:rPr dirty="0" sz="1500" spc="-6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regional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retail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40">
                <a:solidFill>
                  <a:srgbClr val="4A6583"/>
                </a:solidFill>
                <a:latin typeface="Microsoft Sans Serif"/>
                <a:cs typeface="Microsoft Sans Serif"/>
              </a:rPr>
              <a:t>momentum</a:t>
            </a:r>
            <a:r>
              <a:rPr dirty="0" sz="1450" spc="-40">
                <a:solidFill>
                  <a:srgbClr val="4A6583"/>
                </a:solidFill>
                <a:latin typeface="Microsoft Sans Serif"/>
                <a:cs typeface="Microsoft Sans Serif"/>
              </a:rPr>
              <a:t>.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Outlying</a:t>
            </a:r>
            <a:r>
              <a:rPr dirty="0" sz="1500" spc="-5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B</a:t>
            </a:r>
            <a:r>
              <a:rPr dirty="0" sz="1450">
                <a:solidFill>
                  <a:srgbClr val="4A6583"/>
                </a:solidFill>
                <a:latin typeface="Microsoft Sans Serif"/>
                <a:cs typeface="Microsoft Sans Serif"/>
              </a:rPr>
              <a:t>30</a:t>
            </a:r>
            <a:r>
              <a:rPr dirty="0" sz="1450" spc="-4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tier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zones</a:t>
            </a:r>
            <a:r>
              <a:rPr dirty="0" sz="1500" spc="-5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report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an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active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volume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increase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trending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0">
                <a:solidFill>
                  <a:srgbClr val="4A6583"/>
                </a:solidFill>
                <a:latin typeface="Microsoft Sans Serif"/>
                <a:cs typeface="Microsoft Sans Serif"/>
              </a:rPr>
              <a:t>1.5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x quicker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than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 conventional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T</a:t>
            </a:r>
            <a:r>
              <a:rPr dirty="0" sz="1450">
                <a:solidFill>
                  <a:srgbClr val="4A6583"/>
                </a:solidFill>
                <a:latin typeface="Microsoft Sans Serif"/>
                <a:cs typeface="Microsoft Sans Serif"/>
              </a:rPr>
              <a:t>30</a:t>
            </a:r>
            <a:r>
              <a:rPr dirty="0" sz="145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municipal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locations</a:t>
            </a:r>
            <a:r>
              <a:rPr dirty="0" sz="1450" spc="-10">
                <a:solidFill>
                  <a:srgbClr val="4A6583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238875" y="2628900"/>
            <a:ext cx="5381625" cy="2466975"/>
            <a:chOff x="6238875" y="2628900"/>
            <a:chExt cx="5381625" cy="2466975"/>
          </a:xfrm>
        </p:grpSpPr>
        <p:sp>
          <p:nvSpPr>
            <p:cNvPr id="9" name="object 9" descr=""/>
            <p:cNvSpPr/>
            <p:nvPr/>
          </p:nvSpPr>
          <p:spPr>
            <a:xfrm>
              <a:off x="6243637" y="2633662"/>
              <a:ext cx="5372100" cy="2457450"/>
            </a:xfrm>
            <a:custGeom>
              <a:avLst/>
              <a:gdLst/>
              <a:ahLst/>
              <a:cxnLst/>
              <a:rect l="l" t="t" r="r" b="b"/>
              <a:pathLst>
                <a:path w="5372100" h="2457450">
                  <a:moveTo>
                    <a:pt x="5224462" y="2457450"/>
                  </a:moveTo>
                  <a:lnTo>
                    <a:pt x="147637" y="2457450"/>
                  </a:lnTo>
                  <a:lnTo>
                    <a:pt x="140383" y="2457271"/>
                  </a:lnTo>
                  <a:lnTo>
                    <a:pt x="97907" y="2448819"/>
                  </a:lnTo>
                  <a:lnTo>
                    <a:pt x="59682" y="2428391"/>
                  </a:lnTo>
                  <a:lnTo>
                    <a:pt x="29058" y="2397771"/>
                  </a:lnTo>
                  <a:lnTo>
                    <a:pt x="8624" y="2359527"/>
                  </a:lnTo>
                  <a:lnTo>
                    <a:pt x="176" y="2317079"/>
                  </a:lnTo>
                  <a:lnTo>
                    <a:pt x="0" y="2309812"/>
                  </a:lnTo>
                  <a:lnTo>
                    <a:pt x="0" y="147637"/>
                  </a:lnTo>
                  <a:lnTo>
                    <a:pt x="6353" y="104798"/>
                  </a:lnTo>
                  <a:lnTo>
                    <a:pt x="24879" y="65627"/>
                  </a:lnTo>
                  <a:lnTo>
                    <a:pt x="53976" y="33516"/>
                  </a:lnTo>
                  <a:lnTo>
                    <a:pt x="91135" y="11239"/>
                  </a:lnTo>
                  <a:lnTo>
                    <a:pt x="133164" y="714"/>
                  </a:lnTo>
                  <a:lnTo>
                    <a:pt x="147637" y="0"/>
                  </a:lnTo>
                  <a:lnTo>
                    <a:pt x="5224462" y="0"/>
                  </a:lnTo>
                  <a:lnTo>
                    <a:pt x="5267301" y="6369"/>
                  </a:lnTo>
                  <a:lnTo>
                    <a:pt x="5306472" y="24860"/>
                  </a:lnTo>
                  <a:lnTo>
                    <a:pt x="5338583" y="53971"/>
                  </a:lnTo>
                  <a:lnTo>
                    <a:pt x="5360860" y="91154"/>
                  </a:lnTo>
                  <a:lnTo>
                    <a:pt x="5371385" y="133147"/>
                  </a:lnTo>
                  <a:lnTo>
                    <a:pt x="5372100" y="147637"/>
                  </a:lnTo>
                  <a:lnTo>
                    <a:pt x="5372100" y="2309812"/>
                  </a:lnTo>
                  <a:lnTo>
                    <a:pt x="5365730" y="2352651"/>
                  </a:lnTo>
                  <a:lnTo>
                    <a:pt x="5347239" y="2391822"/>
                  </a:lnTo>
                  <a:lnTo>
                    <a:pt x="5318128" y="2423933"/>
                  </a:lnTo>
                  <a:lnTo>
                    <a:pt x="5280945" y="2446210"/>
                  </a:lnTo>
                  <a:lnTo>
                    <a:pt x="5238952" y="2456735"/>
                  </a:lnTo>
                  <a:lnTo>
                    <a:pt x="5224462" y="245745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43637" y="2633662"/>
              <a:ext cx="5372100" cy="2457450"/>
            </a:xfrm>
            <a:custGeom>
              <a:avLst/>
              <a:gdLst/>
              <a:ahLst/>
              <a:cxnLst/>
              <a:rect l="l" t="t" r="r" b="b"/>
              <a:pathLst>
                <a:path w="5372100" h="2457450">
                  <a:moveTo>
                    <a:pt x="0" y="2309812"/>
                  </a:moveTo>
                  <a:lnTo>
                    <a:pt x="0" y="147637"/>
                  </a:lnTo>
                  <a:lnTo>
                    <a:pt x="176" y="140370"/>
                  </a:lnTo>
                  <a:lnTo>
                    <a:pt x="8624" y="97922"/>
                  </a:lnTo>
                  <a:lnTo>
                    <a:pt x="29058" y="59678"/>
                  </a:lnTo>
                  <a:lnTo>
                    <a:pt x="59682" y="29058"/>
                  </a:lnTo>
                  <a:lnTo>
                    <a:pt x="97907" y="8630"/>
                  </a:lnTo>
                  <a:lnTo>
                    <a:pt x="140383" y="178"/>
                  </a:lnTo>
                  <a:lnTo>
                    <a:pt x="147637" y="0"/>
                  </a:lnTo>
                  <a:lnTo>
                    <a:pt x="5224462" y="0"/>
                  </a:lnTo>
                  <a:lnTo>
                    <a:pt x="5267301" y="6369"/>
                  </a:lnTo>
                  <a:lnTo>
                    <a:pt x="5306472" y="24860"/>
                  </a:lnTo>
                  <a:lnTo>
                    <a:pt x="5338583" y="53971"/>
                  </a:lnTo>
                  <a:lnTo>
                    <a:pt x="5360860" y="91154"/>
                  </a:lnTo>
                  <a:lnTo>
                    <a:pt x="5371385" y="133147"/>
                  </a:lnTo>
                  <a:lnTo>
                    <a:pt x="5372100" y="147637"/>
                  </a:lnTo>
                  <a:lnTo>
                    <a:pt x="5372100" y="2309812"/>
                  </a:lnTo>
                  <a:lnTo>
                    <a:pt x="5365730" y="2352651"/>
                  </a:lnTo>
                  <a:lnTo>
                    <a:pt x="5347239" y="2391822"/>
                  </a:lnTo>
                  <a:lnTo>
                    <a:pt x="5318128" y="2423933"/>
                  </a:lnTo>
                  <a:lnTo>
                    <a:pt x="5280945" y="2446210"/>
                  </a:lnTo>
                  <a:lnTo>
                    <a:pt x="5238952" y="2456735"/>
                  </a:lnTo>
                  <a:lnTo>
                    <a:pt x="5224462" y="2457450"/>
                  </a:lnTo>
                  <a:lnTo>
                    <a:pt x="147637" y="2457450"/>
                  </a:lnTo>
                  <a:lnTo>
                    <a:pt x="104780" y="2451080"/>
                  </a:lnTo>
                  <a:lnTo>
                    <a:pt x="65617" y="2432589"/>
                  </a:lnTo>
                  <a:lnTo>
                    <a:pt x="33511" y="2403478"/>
                  </a:lnTo>
                  <a:lnTo>
                    <a:pt x="11239" y="2366295"/>
                  </a:lnTo>
                  <a:lnTo>
                    <a:pt x="708" y="2324302"/>
                  </a:lnTo>
                  <a:lnTo>
                    <a:pt x="0" y="230981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1775" y="2997200"/>
              <a:ext cx="263525" cy="21272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6569075" y="2941162"/>
            <a:ext cx="4690745" cy="177736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9575">
              <a:lnSpc>
                <a:spcPct val="100000"/>
              </a:lnSpc>
              <a:spcBef>
                <a:spcPts val="90"/>
              </a:spcBef>
            </a:pPr>
            <a:r>
              <a:rPr dirty="0" sz="1800" spc="-114" b="1">
                <a:solidFill>
                  <a:srgbClr val="093C61"/>
                </a:solidFill>
                <a:latin typeface="Gill Sans MT"/>
                <a:cs typeface="Gill Sans MT"/>
              </a:rPr>
              <a:t>Demographic</a:t>
            </a:r>
            <a:r>
              <a:rPr dirty="0" sz="1800" spc="-90" b="1">
                <a:solidFill>
                  <a:srgbClr val="093C61"/>
                </a:solidFill>
                <a:latin typeface="Gill Sans MT"/>
                <a:cs typeface="Gill Sans MT"/>
              </a:rPr>
              <a:t> </a:t>
            </a:r>
            <a:r>
              <a:rPr dirty="0" sz="1800" spc="-10" b="1">
                <a:solidFill>
                  <a:srgbClr val="093C61"/>
                </a:solidFill>
                <a:latin typeface="Gill Sans MT"/>
                <a:cs typeface="Gill Sans MT"/>
              </a:rPr>
              <a:t>Insights</a:t>
            </a:r>
            <a:endParaRPr sz="1800">
              <a:latin typeface="Gill Sans MT"/>
              <a:cs typeface="Gill Sans MT"/>
            </a:endParaRPr>
          </a:p>
          <a:p>
            <a:pPr marL="12700" marR="5080">
              <a:lnSpc>
                <a:spcPct val="119800"/>
              </a:lnSpc>
              <a:spcBef>
                <a:spcPts val="860"/>
              </a:spcBef>
            </a:pP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The</a:t>
            </a:r>
            <a:r>
              <a:rPr dirty="0" sz="1500" spc="-6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core</a:t>
            </a:r>
            <a:r>
              <a:rPr dirty="0" sz="1500" spc="-6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55">
                <a:solidFill>
                  <a:srgbClr val="4A6583"/>
                </a:solidFill>
                <a:latin typeface="Microsoft Sans Serif"/>
                <a:cs typeface="Microsoft Sans Serif"/>
              </a:rPr>
              <a:t>18-</a:t>
            </a:r>
            <a:r>
              <a:rPr dirty="0" sz="1450">
                <a:solidFill>
                  <a:srgbClr val="4A6583"/>
                </a:solidFill>
                <a:latin typeface="Microsoft Sans Serif"/>
                <a:cs typeface="Microsoft Sans Serif"/>
              </a:rPr>
              <a:t>25</a:t>
            </a:r>
            <a:r>
              <a:rPr dirty="0" sz="145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youth</a:t>
            </a:r>
            <a:r>
              <a:rPr dirty="0" sz="1500" spc="-6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cohort</a:t>
            </a:r>
            <a:r>
              <a:rPr dirty="0" sz="1500" spc="-5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contributes</a:t>
            </a:r>
            <a:r>
              <a:rPr dirty="0" sz="1500" spc="-6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A6583"/>
                </a:solidFill>
                <a:latin typeface="Microsoft Sans Serif"/>
                <a:cs typeface="Microsoft Sans Serif"/>
              </a:rPr>
              <a:t>the</a:t>
            </a:r>
            <a:r>
              <a:rPr dirty="0" sz="1500" spc="-6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strongest 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baseline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60">
                <a:solidFill>
                  <a:srgbClr val="4A6583"/>
                </a:solidFill>
                <a:latin typeface="Microsoft Sans Serif"/>
                <a:cs typeface="Microsoft Sans Serif"/>
              </a:rPr>
              <a:t>mean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20">
                <a:solidFill>
                  <a:srgbClr val="4A6583"/>
                </a:solidFill>
                <a:latin typeface="Microsoft Sans Serif"/>
                <a:cs typeface="Microsoft Sans Serif"/>
              </a:rPr>
              <a:t>SIP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recurring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valuation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scale</a:t>
            </a:r>
            <a:r>
              <a:rPr dirty="0" sz="1450" spc="-25">
                <a:solidFill>
                  <a:srgbClr val="4A6583"/>
                </a:solidFill>
                <a:latin typeface="Microsoft Sans Serif"/>
                <a:cs typeface="Microsoft Sans Serif"/>
              </a:rPr>
              <a:t>,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proving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a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systematic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structural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transition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prioritizing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early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personal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500" spc="-7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planning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5">
                <a:solidFill>
                  <a:srgbClr val="4A6583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rapid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mobile</a:t>
            </a:r>
            <a:r>
              <a:rPr dirty="0" sz="15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95">
                <a:solidFill>
                  <a:srgbClr val="4A6583"/>
                </a:solidFill>
                <a:latin typeface="Microsoft Sans Serif"/>
                <a:cs typeface="Microsoft Sans Serif"/>
              </a:rPr>
              <a:t>UPI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engine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integration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protocols</a:t>
            </a:r>
            <a:r>
              <a:rPr dirty="0" sz="1450" spc="-10">
                <a:solidFill>
                  <a:srgbClr val="4A6583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5"/>
              <a:t>TRANSACTION</a:t>
            </a:r>
            <a:r>
              <a:rPr dirty="0" spc="-114"/>
              <a:t> </a:t>
            </a:r>
            <a:r>
              <a:rPr dirty="0" spc="-55"/>
              <a:t>COMPOSITION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500" y="2667000"/>
            <a:ext cx="5286375" cy="2390775"/>
            <a:chOff x="571500" y="2667000"/>
            <a:chExt cx="5286375" cy="2390775"/>
          </a:xfrm>
        </p:grpSpPr>
        <p:sp>
          <p:nvSpPr>
            <p:cNvPr id="4" name="object 4" descr=""/>
            <p:cNvSpPr/>
            <p:nvPr/>
          </p:nvSpPr>
          <p:spPr>
            <a:xfrm>
              <a:off x="576262" y="2671762"/>
              <a:ext cx="5276850" cy="2381250"/>
            </a:xfrm>
            <a:custGeom>
              <a:avLst/>
              <a:gdLst/>
              <a:ahLst/>
              <a:cxnLst/>
              <a:rect l="l" t="t" r="r" b="b"/>
              <a:pathLst>
                <a:path w="5276850" h="2381250">
                  <a:moveTo>
                    <a:pt x="5129212" y="2381250"/>
                  </a:moveTo>
                  <a:lnTo>
                    <a:pt x="147637" y="2381250"/>
                  </a:lnTo>
                  <a:lnTo>
                    <a:pt x="140384" y="2381071"/>
                  </a:lnTo>
                  <a:lnTo>
                    <a:pt x="97907" y="2372619"/>
                  </a:lnTo>
                  <a:lnTo>
                    <a:pt x="59681" y="2352191"/>
                  </a:lnTo>
                  <a:lnTo>
                    <a:pt x="29058" y="2321571"/>
                  </a:lnTo>
                  <a:lnTo>
                    <a:pt x="8626" y="2283327"/>
                  </a:lnTo>
                  <a:lnTo>
                    <a:pt x="177" y="2240879"/>
                  </a:lnTo>
                  <a:lnTo>
                    <a:pt x="0" y="2233612"/>
                  </a:lnTo>
                  <a:lnTo>
                    <a:pt x="0" y="147637"/>
                  </a:lnTo>
                  <a:lnTo>
                    <a:pt x="6355" y="104798"/>
                  </a:lnTo>
                  <a:lnTo>
                    <a:pt x="24881" y="65627"/>
                  </a:lnTo>
                  <a:lnTo>
                    <a:pt x="53975" y="33516"/>
                  </a:lnTo>
                  <a:lnTo>
                    <a:pt x="91139" y="11239"/>
                  </a:lnTo>
                  <a:lnTo>
                    <a:pt x="133166" y="714"/>
                  </a:lnTo>
                  <a:lnTo>
                    <a:pt x="147637" y="0"/>
                  </a:lnTo>
                  <a:lnTo>
                    <a:pt x="5129212" y="0"/>
                  </a:lnTo>
                  <a:lnTo>
                    <a:pt x="5172069" y="6369"/>
                  </a:lnTo>
                  <a:lnTo>
                    <a:pt x="5211232" y="24860"/>
                  </a:lnTo>
                  <a:lnTo>
                    <a:pt x="5243338" y="53971"/>
                  </a:lnTo>
                  <a:lnTo>
                    <a:pt x="5265610" y="91154"/>
                  </a:lnTo>
                  <a:lnTo>
                    <a:pt x="5276141" y="133147"/>
                  </a:lnTo>
                  <a:lnTo>
                    <a:pt x="5276850" y="147637"/>
                  </a:lnTo>
                  <a:lnTo>
                    <a:pt x="5276850" y="2233612"/>
                  </a:lnTo>
                  <a:lnTo>
                    <a:pt x="5270496" y="2276451"/>
                  </a:lnTo>
                  <a:lnTo>
                    <a:pt x="5251970" y="2315622"/>
                  </a:lnTo>
                  <a:lnTo>
                    <a:pt x="5222873" y="2347733"/>
                  </a:lnTo>
                  <a:lnTo>
                    <a:pt x="5185714" y="2370010"/>
                  </a:lnTo>
                  <a:lnTo>
                    <a:pt x="5143685" y="2380535"/>
                  </a:lnTo>
                  <a:lnTo>
                    <a:pt x="5129212" y="238125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6262" y="2671762"/>
              <a:ext cx="5276850" cy="2381250"/>
            </a:xfrm>
            <a:custGeom>
              <a:avLst/>
              <a:gdLst/>
              <a:ahLst/>
              <a:cxnLst/>
              <a:rect l="l" t="t" r="r" b="b"/>
              <a:pathLst>
                <a:path w="5276850" h="2381250">
                  <a:moveTo>
                    <a:pt x="0" y="2233612"/>
                  </a:moveTo>
                  <a:lnTo>
                    <a:pt x="0" y="147637"/>
                  </a:lnTo>
                  <a:lnTo>
                    <a:pt x="177" y="140370"/>
                  </a:lnTo>
                  <a:lnTo>
                    <a:pt x="8626" y="97922"/>
                  </a:lnTo>
                  <a:lnTo>
                    <a:pt x="29058" y="59678"/>
                  </a:lnTo>
                  <a:lnTo>
                    <a:pt x="59681" y="29058"/>
                  </a:lnTo>
                  <a:lnTo>
                    <a:pt x="97907" y="8630"/>
                  </a:lnTo>
                  <a:lnTo>
                    <a:pt x="140384" y="178"/>
                  </a:lnTo>
                  <a:lnTo>
                    <a:pt x="147637" y="0"/>
                  </a:lnTo>
                  <a:lnTo>
                    <a:pt x="5129212" y="0"/>
                  </a:lnTo>
                  <a:lnTo>
                    <a:pt x="5172069" y="6369"/>
                  </a:lnTo>
                  <a:lnTo>
                    <a:pt x="5211232" y="24860"/>
                  </a:lnTo>
                  <a:lnTo>
                    <a:pt x="5243338" y="53971"/>
                  </a:lnTo>
                  <a:lnTo>
                    <a:pt x="5265610" y="91154"/>
                  </a:lnTo>
                  <a:lnTo>
                    <a:pt x="5276141" y="133147"/>
                  </a:lnTo>
                  <a:lnTo>
                    <a:pt x="5276850" y="147637"/>
                  </a:lnTo>
                  <a:lnTo>
                    <a:pt x="5276850" y="2233612"/>
                  </a:lnTo>
                  <a:lnTo>
                    <a:pt x="5270496" y="2276451"/>
                  </a:lnTo>
                  <a:lnTo>
                    <a:pt x="5251970" y="2315622"/>
                  </a:lnTo>
                  <a:lnTo>
                    <a:pt x="5222873" y="2347733"/>
                  </a:lnTo>
                  <a:lnTo>
                    <a:pt x="5185714" y="2370010"/>
                  </a:lnTo>
                  <a:lnTo>
                    <a:pt x="5143685" y="2380535"/>
                  </a:lnTo>
                  <a:lnTo>
                    <a:pt x="5129212" y="2381250"/>
                  </a:lnTo>
                  <a:lnTo>
                    <a:pt x="147637" y="2381250"/>
                  </a:lnTo>
                  <a:lnTo>
                    <a:pt x="104780" y="2374880"/>
                  </a:lnTo>
                  <a:lnTo>
                    <a:pt x="65613" y="2356389"/>
                  </a:lnTo>
                  <a:lnTo>
                    <a:pt x="33510" y="2327278"/>
                  </a:lnTo>
                  <a:lnTo>
                    <a:pt x="11238" y="2290095"/>
                  </a:lnTo>
                  <a:lnTo>
                    <a:pt x="709" y="2248102"/>
                  </a:lnTo>
                  <a:lnTo>
                    <a:pt x="0" y="223361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975796" y="3042180"/>
            <a:ext cx="2468245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-105" b="1">
                <a:solidFill>
                  <a:srgbClr val="4A6583"/>
                </a:solidFill>
                <a:latin typeface="Arial"/>
                <a:cs typeface="Arial"/>
              </a:rPr>
              <a:t>AGGREGATE</a:t>
            </a:r>
            <a:r>
              <a:rPr dirty="0" sz="1500" spc="3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4A6583"/>
                </a:solidFill>
                <a:latin typeface="Arial"/>
                <a:cs typeface="Arial"/>
              </a:rPr>
              <a:t>BASE</a:t>
            </a:r>
            <a:r>
              <a:rPr dirty="0" sz="1500" spc="40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500" spc="-35" b="1">
                <a:solidFill>
                  <a:srgbClr val="4A6583"/>
                </a:solidFill>
                <a:latin typeface="Arial"/>
                <a:cs typeface="Arial"/>
              </a:rPr>
              <a:t>ASSETS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97025" y="3412170"/>
            <a:ext cx="3235325" cy="1221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800" spc="-475" b="1">
                <a:solidFill>
                  <a:srgbClr val="093C61"/>
                </a:solidFill>
                <a:latin typeface="Arial"/>
                <a:cs typeface="Arial"/>
              </a:rPr>
              <a:t>₹</a:t>
            </a:r>
            <a:r>
              <a:rPr dirty="0" sz="5200" spc="-475" b="1">
                <a:solidFill>
                  <a:srgbClr val="093C61"/>
                </a:solidFill>
                <a:latin typeface="Arial"/>
                <a:cs typeface="Arial"/>
              </a:rPr>
              <a:t>81L</a:t>
            </a:r>
            <a:r>
              <a:rPr dirty="0" sz="5200" spc="-575" b="1">
                <a:solidFill>
                  <a:srgbClr val="093C61"/>
                </a:solidFill>
                <a:latin typeface="Arial"/>
                <a:cs typeface="Arial"/>
              </a:rPr>
              <a:t> </a:t>
            </a:r>
            <a:r>
              <a:rPr dirty="0" sz="5200" spc="-25" b="1">
                <a:solidFill>
                  <a:srgbClr val="093C61"/>
                </a:solidFill>
                <a:latin typeface="Arial"/>
                <a:cs typeface="Arial"/>
              </a:rPr>
              <a:t>Cr</a:t>
            </a:r>
            <a:endParaRPr sz="5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dirty="0" sz="1500" spc="-80" b="1">
                <a:solidFill>
                  <a:srgbClr val="37AFEC"/>
                </a:solidFill>
                <a:latin typeface="Arial"/>
                <a:cs typeface="Arial"/>
              </a:rPr>
              <a:t>Total</a:t>
            </a:r>
            <a:r>
              <a:rPr dirty="0" sz="1500" spc="-55" b="1">
                <a:solidFill>
                  <a:srgbClr val="37AFEC"/>
                </a:solidFill>
                <a:latin typeface="Arial"/>
                <a:cs typeface="Arial"/>
              </a:rPr>
              <a:t> </a:t>
            </a:r>
            <a:r>
              <a:rPr dirty="0" sz="1500" spc="-70" b="1">
                <a:solidFill>
                  <a:srgbClr val="37AFEC"/>
                </a:solidFill>
                <a:latin typeface="Arial"/>
                <a:cs typeface="Arial"/>
              </a:rPr>
              <a:t>Active</a:t>
            </a:r>
            <a:r>
              <a:rPr dirty="0" sz="1500" spc="-50" b="1">
                <a:solidFill>
                  <a:srgbClr val="37AFEC"/>
                </a:solidFill>
                <a:latin typeface="Arial"/>
                <a:cs typeface="Arial"/>
              </a:rPr>
              <a:t> </a:t>
            </a:r>
            <a:r>
              <a:rPr dirty="0" sz="1500" spc="-80" b="1">
                <a:solidFill>
                  <a:srgbClr val="37AFEC"/>
                </a:solidFill>
                <a:latin typeface="Arial"/>
                <a:cs typeface="Arial"/>
              </a:rPr>
              <a:t>Portfolio</a:t>
            </a:r>
            <a:r>
              <a:rPr dirty="0" sz="1500" spc="-50" b="1">
                <a:solidFill>
                  <a:srgbClr val="37AFEC"/>
                </a:solidFill>
                <a:latin typeface="Arial"/>
                <a:cs typeface="Arial"/>
              </a:rPr>
              <a:t> </a:t>
            </a:r>
            <a:r>
              <a:rPr dirty="0" sz="1500" spc="-65" b="1">
                <a:solidFill>
                  <a:srgbClr val="37AFEC"/>
                </a:solidFill>
                <a:latin typeface="Arial"/>
                <a:cs typeface="Arial"/>
              </a:rPr>
              <a:t>Managed</a:t>
            </a:r>
            <a:r>
              <a:rPr dirty="0" sz="1500" spc="-55" b="1">
                <a:solidFill>
                  <a:srgbClr val="37AFEC"/>
                </a:solidFill>
                <a:latin typeface="Arial"/>
                <a:cs typeface="Arial"/>
              </a:rPr>
              <a:t> </a:t>
            </a:r>
            <a:r>
              <a:rPr dirty="0" sz="1500" spc="-35" b="1">
                <a:solidFill>
                  <a:srgbClr val="37AFEC"/>
                </a:solidFill>
                <a:latin typeface="Arial"/>
                <a:cs typeface="Arial"/>
              </a:rPr>
              <a:t>Volume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334125" y="3352800"/>
            <a:ext cx="5286375" cy="95250"/>
            <a:chOff x="6334125" y="3352800"/>
            <a:chExt cx="5286375" cy="95250"/>
          </a:xfrm>
        </p:grpSpPr>
        <p:sp>
          <p:nvSpPr>
            <p:cNvPr id="9" name="object 9" descr=""/>
            <p:cNvSpPr/>
            <p:nvPr/>
          </p:nvSpPr>
          <p:spPr>
            <a:xfrm>
              <a:off x="6334125" y="3352800"/>
              <a:ext cx="5286375" cy="95250"/>
            </a:xfrm>
            <a:custGeom>
              <a:avLst/>
              <a:gdLst/>
              <a:ahLst/>
              <a:cxnLst/>
              <a:rect l="l" t="t" r="r" b="b"/>
              <a:pathLst>
                <a:path w="5286375" h="95250">
                  <a:moveTo>
                    <a:pt x="5245036" y="95250"/>
                  </a:moveTo>
                  <a:lnTo>
                    <a:pt x="41309" y="95250"/>
                  </a:lnTo>
                  <a:lnTo>
                    <a:pt x="35232" y="94011"/>
                  </a:lnTo>
                  <a:lnTo>
                    <a:pt x="1209" y="60007"/>
                  </a:lnTo>
                  <a:lnTo>
                    <a:pt x="0" y="53911"/>
                  </a:lnTo>
                  <a:lnTo>
                    <a:pt x="0" y="47625"/>
                  </a:lnTo>
                  <a:lnTo>
                    <a:pt x="0" y="41338"/>
                  </a:lnTo>
                  <a:lnTo>
                    <a:pt x="23564" y="6000"/>
                  </a:lnTo>
                  <a:lnTo>
                    <a:pt x="41309" y="0"/>
                  </a:lnTo>
                  <a:lnTo>
                    <a:pt x="5245036" y="0"/>
                  </a:lnTo>
                  <a:lnTo>
                    <a:pt x="5280374" y="23526"/>
                  </a:lnTo>
                  <a:lnTo>
                    <a:pt x="5286375" y="41338"/>
                  </a:lnTo>
                  <a:lnTo>
                    <a:pt x="5286375" y="53911"/>
                  </a:lnTo>
                  <a:lnTo>
                    <a:pt x="5262848" y="89153"/>
                  </a:lnTo>
                  <a:lnTo>
                    <a:pt x="5251132" y="94011"/>
                  </a:lnTo>
                  <a:lnTo>
                    <a:pt x="5245036" y="95250"/>
                  </a:lnTo>
                  <a:close/>
                </a:path>
              </a:pathLst>
            </a:custGeom>
            <a:solidFill>
              <a:srgbClr val="EDF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334125" y="3352801"/>
              <a:ext cx="3095625" cy="95250"/>
            </a:xfrm>
            <a:custGeom>
              <a:avLst/>
              <a:gdLst/>
              <a:ahLst/>
              <a:cxnLst/>
              <a:rect l="l" t="t" r="r" b="b"/>
              <a:pathLst>
                <a:path w="3095625" h="95250">
                  <a:moveTo>
                    <a:pt x="3095625" y="95249"/>
                  </a:moveTo>
                  <a:lnTo>
                    <a:pt x="47624" y="95249"/>
                  </a:lnTo>
                  <a:lnTo>
                    <a:pt x="38127" y="94376"/>
                  </a:lnTo>
                  <a:lnTo>
                    <a:pt x="3478" y="65905"/>
                  </a:lnTo>
                  <a:lnTo>
                    <a:pt x="0" y="47640"/>
                  </a:lnTo>
                  <a:lnTo>
                    <a:pt x="858" y="38129"/>
                  </a:lnTo>
                  <a:lnTo>
                    <a:pt x="29344" y="3493"/>
                  </a:lnTo>
                  <a:lnTo>
                    <a:pt x="47625" y="0"/>
                  </a:lnTo>
                  <a:lnTo>
                    <a:pt x="3095625" y="0"/>
                  </a:lnTo>
                  <a:lnTo>
                    <a:pt x="3095625" y="95249"/>
                  </a:lnTo>
                  <a:close/>
                </a:path>
              </a:pathLst>
            </a:custGeom>
            <a:solidFill>
              <a:srgbClr val="093C6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6334125" y="3990971"/>
            <a:ext cx="5286375" cy="95250"/>
            <a:chOff x="6334125" y="3990971"/>
            <a:chExt cx="5286375" cy="95250"/>
          </a:xfrm>
        </p:grpSpPr>
        <p:sp>
          <p:nvSpPr>
            <p:cNvPr id="12" name="object 12" descr=""/>
            <p:cNvSpPr/>
            <p:nvPr/>
          </p:nvSpPr>
          <p:spPr>
            <a:xfrm>
              <a:off x="6334125" y="3990975"/>
              <a:ext cx="5286375" cy="95250"/>
            </a:xfrm>
            <a:custGeom>
              <a:avLst/>
              <a:gdLst/>
              <a:ahLst/>
              <a:cxnLst/>
              <a:rect l="l" t="t" r="r" b="b"/>
              <a:pathLst>
                <a:path w="5286375" h="95250">
                  <a:moveTo>
                    <a:pt x="5245036" y="95250"/>
                  </a:moveTo>
                  <a:lnTo>
                    <a:pt x="41309" y="95250"/>
                  </a:lnTo>
                  <a:lnTo>
                    <a:pt x="35232" y="94011"/>
                  </a:lnTo>
                  <a:lnTo>
                    <a:pt x="1209" y="60007"/>
                  </a:lnTo>
                  <a:lnTo>
                    <a:pt x="0" y="53911"/>
                  </a:lnTo>
                  <a:lnTo>
                    <a:pt x="0" y="47625"/>
                  </a:lnTo>
                  <a:lnTo>
                    <a:pt x="0" y="41338"/>
                  </a:lnTo>
                  <a:lnTo>
                    <a:pt x="23564" y="6000"/>
                  </a:lnTo>
                  <a:lnTo>
                    <a:pt x="41309" y="0"/>
                  </a:lnTo>
                  <a:lnTo>
                    <a:pt x="5245036" y="0"/>
                  </a:lnTo>
                  <a:lnTo>
                    <a:pt x="5280374" y="23526"/>
                  </a:lnTo>
                  <a:lnTo>
                    <a:pt x="5286375" y="41338"/>
                  </a:lnTo>
                  <a:lnTo>
                    <a:pt x="5286375" y="53911"/>
                  </a:lnTo>
                  <a:lnTo>
                    <a:pt x="5262848" y="89153"/>
                  </a:lnTo>
                  <a:lnTo>
                    <a:pt x="5251132" y="94011"/>
                  </a:lnTo>
                  <a:lnTo>
                    <a:pt x="5245036" y="95250"/>
                  </a:lnTo>
                  <a:close/>
                </a:path>
              </a:pathLst>
            </a:custGeom>
            <a:solidFill>
              <a:srgbClr val="EDF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334125" y="3990971"/>
              <a:ext cx="1866900" cy="95250"/>
            </a:xfrm>
            <a:custGeom>
              <a:avLst/>
              <a:gdLst/>
              <a:ahLst/>
              <a:cxnLst/>
              <a:rect l="l" t="t" r="r" b="b"/>
              <a:pathLst>
                <a:path w="1866900" h="95250">
                  <a:moveTo>
                    <a:pt x="1866900" y="95240"/>
                  </a:moveTo>
                  <a:lnTo>
                    <a:pt x="47460" y="95240"/>
                  </a:lnTo>
                  <a:lnTo>
                    <a:pt x="38127" y="94370"/>
                  </a:lnTo>
                  <a:lnTo>
                    <a:pt x="3478" y="65910"/>
                  </a:lnTo>
                  <a:lnTo>
                    <a:pt x="0" y="47630"/>
                  </a:lnTo>
                  <a:lnTo>
                    <a:pt x="858" y="38132"/>
                  </a:lnTo>
                  <a:lnTo>
                    <a:pt x="29344" y="3483"/>
                  </a:lnTo>
                  <a:lnTo>
                    <a:pt x="47684" y="0"/>
                  </a:lnTo>
                  <a:lnTo>
                    <a:pt x="1866900" y="0"/>
                  </a:lnTo>
                  <a:lnTo>
                    <a:pt x="1866900" y="95240"/>
                  </a:lnTo>
                  <a:close/>
                </a:path>
              </a:pathLst>
            </a:custGeom>
            <a:solidFill>
              <a:srgbClr val="37AF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6334125" y="4629150"/>
            <a:ext cx="5286375" cy="95250"/>
            <a:chOff x="6334125" y="4629150"/>
            <a:chExt cx="5286375" cy="95250"/>
          </a:xfrm>
        </p:grpSpPr>
        <p:sp>
          <p:nvSpPr>
            <p:cNvPr id="15" name="object 15" descr=""/>
            <p:cNvSpPr/>
            <p:nvPr/>
          </p:nvSpPr>
          <p:spPr>
            <a:xfrm>
              <a:off x="6334125" y="4629150"/>
              <a:ext cx="5286375" cy="95250"/>
            </a:xfrm>
            <a:custGeom>
              <a:avLst/>
              <a:gdLst/>
              <a:ahLst/>
              <a:cxnLst/>
              <a:rect l="l" t="t" r="r" b="b"/>
              <a:pathLst>
                <a:path w="5286375" h="95250">
                  <a:moveTo>
                    <a:pt x="5245036" y="95250"/>
                  </a:moveTo>
                  <a:lnTo>
                    <a:pt x="41309" y="95250"/>
                  </a:lnTo>
                  <a:lnTo>
                    <a:pt x="35232" y="94011"/>
                  </a:lnTo>
                  <a:lnTo>
                    <a:pt x="1209" y="60007"/>
                  </a:lnTo>
                  <a:lnTo>
                    <a:pt x="0" y="53911"/>
                  </a:lnTo>
                  <a:lnTo>
                    <a:pt x="0" y="47625"/>
                  </a:lnTo>
                  <a:lnTo>
                    <a:pt x="0" y="41338"/>
                  </a:lnTo>
                  <a:lnTo>
                    <a:pt x="23564" y="6000"/>
                  </a:lnTo>
                  <a:lnTo>
                    <a:pt x="41309" y="0"/>
                  </a:lnTo>
                  <a:lnTo>
                    <a:pt x="5245036" y="0"/>
                  </a:lnTo>
                  <a:lnTo>
                    <a:pt x="5280374" y="23526"/>
                  </a:lnTo>
                  <a:lnTo>
                    <a:pt x="5286375" y="41338"/>
                  </a:lnTo>
                  <a:lnTo>
                    <a:pt x="5286375" y="53911"/>
                  </a:lnTo>
                  <a:lnTo>
                    <a:pt x="5262848" y="89249"/>
                  </a:lnTo>
                  <a:lnTo>
                    <a:pt x="5251132" y="94011"/>
                  </a:lnTo>
                  <a:lnTo>
                    <a:pt x="5245036" y="95250"/>
                  </a:lnTo>
                  <a:close/>
                </a:path>
              </a:pathLst>
            </a:custGeom>
            <a:solidFill>
              <a:srgbClr val="EDF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334125" y="4629151"/>
              <a:ext cx="323850" cy="95250"/>
            </a:xfrm>
            <a:custGeom>
              <a:avLst/>
              <a:gdLst/>
              <a:ahLst/>
              <a:cxnLst/>
              <a:rect l="l" t="t" r="r" b="b"/>
              <a:pathLst>
                <a:path w="323850" h="95250">
                  <a:moveTo>
                    <a:pt x="323850" y="95249"/>
                  </a:moveTo>
                  <a:lnTo>
                    <a:pt x="47623" y="95249"/>
                  </a:lnTo>
                  <a:lnTo>
                    <a:pt x="38127" y="94375"/>
                  </a:lnTo>
                  <a:lnTo>
                    <a:pt x="3478" y="65905"/>
                  </a:lnTo>
                  <a:lnTo>
                    <a:pt x="0" y="47640"/>
                  </a:lnTo>
                  <a:lnTo>
                    <a:pt x="858" y="38129"/>
                  </a:lnTo>
                  <a:lnTo>
                    <a:pt x="29344" y="3493"/>
                  </a:lnTo>
                  <a:lnTo>
                    <a:pt x="47624" y="0"/>
                  </a:lnTo>
                  <a:lnTo>
                    <a:pt x="323850" y="0"/>
                  </a:lnTo>
                  <a:lnTo>
                    <a:pt x="323850" y="95249"/>
                  </a:lnTo>
                  <a:close/>
                </a:path>
              </a:pathLst>
            </a:custGeom>
            <a:solidFill>
              <a:srgbClr val="E16F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321425" y="2985030"/>
            <a:ext cx="148971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-114" b="1">
                <a:solidFill>
                  <a:srgbClr val="042033"/>
                </a:solidFill>
                <a:latin typeface="Arial"/>
                <a:cs typeface="Arial"/>
              </a:rPr>
              <a:t>Lumpsum</a:t>
            </a:r>
            <a:r>
              <a:rPr dirty="0" sz="1500" spc="-40" b="1">
                <a:solidFill>
                  <a:srgbClr val="042033"/>
                </a:solidFill>
                <a:latin typeface="Arial"/>
                <a:cs typeface="Arial"/>
              </a:rPr>
              <a:t> </a:t>
            </a:r>
            <a:r>
              <a:rPr dirty="0" sz="1500" spc="-50" b="1">
                <a:solidFill>
                  <a:srgbClr val="042033"/>
                </a:solidFill>
                <a:latin typeface="Arial"/>
                <a:cs typeface="Arial"/>
              </a:rPr>
              <a:t>Inflows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946003" y="2989554"/>
            <a:ext cx="68770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 b="1">
                <a:solidFill>
                  <a:srgbClr val="042033"/>
                </a:solidFill>
                <a:latin typeface="Arial"/>
                <a:cs typeface="Arial"/>
              </a:rPr>
              <a:t>58.49%</a:t>
            </a:r>
            <a:endParaRPr sz="14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321425" y="3623205"/>
            <a:ext cx="143129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-110" b="1">
                <a:solidFill>
                  <a:srgbClr val="042033"/>
                </a:solidFill>
                <a:latin typeface="Arial"/>
                <a:cs typeface="Arial"/>
              </a:rPr>
              <a:t>SIP</a:t>
            </a:r>
            <a:r>
              <a:rPr dirty="0" sz="1500" spc="-60" b="1">
                <a:solidFill>
                  <a:srgbClr val="042033"/>
                </a:solidFill>
                <a:latin typeface="Arial"/>
                <a:cs typeface="Arial"/>
              </a:rPr>
              <a:t> </a:t>
            </a:r>
            <a:r>
              <a:rPr dirty="0" sz="1500" spc="-75" b="1">
                <a:solidFill>
                  <a:srgbClr val="042033"/>
                </a:solidFill>
                <a:latin typeface="Arial"/>
                <a:cs typeface="Arial"/>
              </a:rPr>
              <a:t>Deployments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993628" y="3627730"/>
            <a:ext cx="64008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 b="1">
                <a:solidFill>
                  <a:srgbClr val="042033"/>
                </a:solidFill>
                <a:latin typeface="Arial"/>
                <a:cs typeface="Arial"/>
              </a:rPr>
              <a:t>35.31%</a:t>
            </a:r>
            <a:endParaRPr sz="14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321425" y="4261380"/>
            <a:ext cx="1575435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-95" b="1">
                <a:solidFill>
                  <a:srgbClr val="042033"/>
                </a:solidFill>
                <a:latin typeface="Arial"/>
                <a:cs typeface="Arial"/>
              </a:rPr>
              <a:t>Redemption</a:t>
            </a:r>
            <a:r>
              <a:rPr dirty="0" sz="1500" spc="-10" b="1">
                <a:solidFill>
                  <a:srgbClr val="042033"/>
                </a:solidFill>
                <a:latin typeface="Arial"/>
                <a:cs typeface="Arial"/>
              </a:rPr>
              <a:t> </a:t>
            </a:r>
            <a:r>
              <a:rPr dirty="0" sz="1500" spc="-55" b="1">
                <a:solidFill>
                  <a:srgbClr val="042033"/>
                </a:solidFill>
                <a:latin typeface="Arial"/>
                <a:cs typeface="Arial"/>
              </a:rPr>
              <a:t>Churn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1056683" y="4265905"/>
            <a:ext cx="57658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 b="1">
                <a:solidFill>
                  <a:srgbClr val="042033"/>
                </a:solidFill>
                <a:latin typeface="Arial"/>
                <a:cs typeface="Arial"/>
              </a:rPr>
              <a:t>6.20%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75"/>
              <a:t>KEY</a:t>
            </a:r>
            <a:r>
              <a:rPr dirty="0" spc="-225"/>
              <a:t> </a:t>
            </a:r>
            <a:r>
              <a:rPr dirty="0" spc="-70"/>
              <a:t>FINDINGS</a:t>
            </a:r>
            <a:r>
              <a:rPr dirty="0" spc="-145"/>
              <a:t> </a:t>
            </a:r>
            <a:r>
              <a:rPr dirty="0" spc="-250"/>
              <a:t>&amp; </a:t>
            </a:r>
            <a:r>
              <a:rPr dirty="0" spc="-175"/>
              <a:t>STRATEGY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500" y="2457450"/>
            <a:ext cx="5381625" cy="2809875"/>
            <a:chOff x="571500" y="2457450"/>
            <a:chExt cx="5381625" cy="2809875"/>
          </a:xfrm>
        </p:grpSpPr>
        <p:sp>
          <p:nvSpPr>
            <p:cNvPr id="4" name="object 4" descr=""/>
            <p:cNvSpPr/>
            <p:nvPr/>
          </p:nvSpPr>
          <p:spPr>
            <a:xfrm>
              <a:off x="576262" y="2462212"/>
              <a:ext cx="5372100" cy="2800350"/>
            </a:xfrm>
            <a:custGeom>
              <a:avLst/>
              <a:gdLst/>
              <a:ahLst/>
              <a:cxnLst/>
              <a:rect l="l" t="t" r="r" b="b"/>
              <a:pathLst>
                <a:path w="5372100" h="2800350">
                  <a:moveTo>
                    <a:pt x="5224462" y="2800350"/>
                  </a:moveTo>
                  <a:lnTo>
                    <a:pt x="147637" y="2800350"/>
                  </a:lnTo>
                  <a:lnTo>
                    <a:pt x="140384" y="2800171"/>
                  </a:lnTo>
                  <a:lnTo>
                    <a:pt x="97907" y="2791719"/>
                  </a:lnTo>
                  <a:lnTo>
                    <a:pt x="59681" y="2771291"/>
                  </a:lnTo>
                  <a:lnTo>
                    <a:pt x="29058" y="2740671"/>
                  </a:lnTo>
                  <a:lnTo>
                    <a:pt x="8626" y="2702427"/>
                  </a:lnTo>
                  <a:lnTo>
                    <a:pt x="177" y="2659979"/>
                  </a:lnTo>
                  <a:lnTo>
                    <a:pt x="0" y="2652712"/>
                  </a:lnTo>
                  <a:lnTo>
                    <a:pt x="0" y="147637"/>
                  </a:lnTo>
                  <a:lnTo>
                    <a:pt x="6355" y="104798"/>
                  </a:lnTo>
                  <a:lnTo>
                    <a:pt x="24881" y="65627"/>
                  </a:lnTo>
                  <a:lnTo>
                    <a:pt x="53975" y="33516"/>
                  </a:lnTo>
                  <a:lnTo>
                    <a:pt x="91139" y="11239"/>
                  </a:lnTo>
                  <a:lnTo>
                    <a:pt x="133166" y="714"/>
                  </a:lnTo>
                  <a:lnTo>
                    <a:pt x="147637" y="0"/>
                  </a:lnTo>
                  <a:lnTo>
                    <a:pt x="5224462" y="0"/>
                  </a:lnTo>
                  <a:lnTo>
                    <a:pt x="5267317" y="6369"/>
                  </a:lnTo>
                  <a:lnTo>
                    <a:pt x="5306482" y="24860"/>
                  </a:lnTo>
                  <a:lnTo>
                    <a:pt x="5338588" y="53971"/>
                  </a:lnTo>
                  <a:lnTo>
                    <a:pt x="5360860" y="91154"/>
                  </a:lnTo>
                  <a:lnTo>
                    <a:pt x="5371391" y="133147"/>
                  </a:lnTo>
                  <a:lnTo>
                    <a:pt x="5372100" y="147637"/>
                  </a:lnTo>
                  <a:lnTo>
                    <a:pt x="5372100" y="2652712"/>
                  </a:lnTo>
                  <a:lnTo>
                    <a:pt x="5365743" y="2695551"/>
                  </a:lnTo>
                  <a:lnTo>
                    <a:pt x="5347220" y="2734722"/>
                  </a:lnTo>
                  <a:lnTo>
                    <a:pt x="5318119" y="2766833"/>
                  </a:lnTo>
                  <a:lnTo>
                    <a:pt x="5280955" y="2789110"/>
                  </a:lnTo>
                  <a:lnTo>
                    <a:pt x="5238935" y="2799635"/>
                  </a:lnTo>
                  <a:lnTo>
                    <a:pt x="5224462" y="280035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6262" y="2462212"/>
              <a:ext cx="5372100" cy="2800350"/>
            </a:xfrm>
            <a:custGeom>
              <a:avLst/>
              <a:gdLst/>
              <a:ahLst/>
              <a:cxnLst/>
              <a:rect l="l" t="t" r="r" b="b"/>
              <a:pathLst>
                <a:path w="5372100" h="2800350">
                  <a:moveTo>
                    <a:pt x="0" y="2652712"/>
                  </a:moveTo>
                  <a:lnTo>
                    <a:pt x="0" y="147637"/>
                  </a:lnTo>
                  <a:lnTo>
                    <a:pt x="177" y="140370"/>
                  </a:lnTo>
                  <a:lnTo>
                    <a:pt x="8626" y="97922"/>
                  </a:lnTo>
                  <a:lnTo>
                    <a:pt x="29058" y="59678"/>
                  </a:lnTo>
                  <a:lnTo>
                    <a:pt x="59681" y="29058"/>
                  </a:lnTo>
                  <a:lnTo>
                    <a:pt x="97907" y="8630"/>
                  </a:lnTo>
                  <a:lnTo>
                    <a:pt x="140384" y="178"/>
                  </a:lnTo>
                  <a:lnTo>
                    <a:pt x="147637" y="0"/>
                  </a:lnTo>
                  <a:lnTo>
                    <a:pt x="5224462" y="0"/>
                  </a:lnTo>
                  <a:lnTo>
                    <a:pt x="5267317" y="6369"/>
                  </a:lnTo>
                  <a:lnTo>
                    <a:pt x="5306482" y="24860"/>
                  </a:lnTo>
                  <a:lnTo>
                    <a:pt x="5338588" y="53971"/>
                  </a:lnTo>
                  <a:lnTo>
                    <a:pt x="5360860" y="91154"/>
                  </a:lnTo>
                  <a:lnTo>
                    <a:pt x="5371391" y="133147"/>
                  </a:lnTo>
                  <a:lnTo>
                    <a:pt x="5372100" y="147637"/>
                  </a:lnTo>
                  <a:lnTo>
                    <a:pt x="5372100" y="2652712"/>
                  </a:lnTo>
                  <a:lnTo>
                    <a:pt x="5365743" y="2695551"/>
                  </a:lnTo>
                  <a:lnTo>
                    <a:pt x="5347220" y="2734722"/>
                  </a:lnTo>
                  <a:lnTo>
                    <a:pt x="5318119" y="2766833"/>
                  </a:lnTo>
                  <a:lnTo>
                    <a:pt x="5280955" y="2789110"/>
                  </a:lnTo>
                  <a:lnTo>
                    <a:pt x="5238935" y="2799635"/>
                  </a:lnTo>
                  <a:lnTo>
                    <a:pt x="5224462" y="2800350"/>
                  </a:lnTo>
                  <a:lnTo>
                    <a:pt x="147637" y="2800350"/>
                  </a:lnTo>
                  <a:lnTo>
                    <a:pt x="104780" y="2793980"/>
                  </a:lnTo>
                  <a:lnTo>
                    <a:pt x="65613" y="2775489"/>
                  </a:lnTo>
                  <a:lnTo>
                    <a:pt x="33510" y="2746378"/>
                  </a:lnTo>
                  <a:lnTo>
                    <a:pt x="11238" y="2709195"/>
                  </a:lnTo>
                  <a:lnTo>
                    <a:pt x="709" y="2667202"/>
                  </a:lnTo>
                  <a:lnTo>
                    <a:pt x="0" y="265271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125" y="2778125"/>
              <a:ext cx="146050" cy="21272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854075" y="2722087"/>
            <a:ext cx="4676140" cy="21062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90"/>
              </a:spcBef>
            </a:pPr>
            <a:r>
              <a:rPr dirty="0" sz="1800" spc="-55" b="1">
                <a:solidFill>
                  <a:srgbClr val="093C61"/>
                </a:solidFill>
                <a:latin typeface="Gill Sans MT"/>
                <a:cs typeface="Gill Sans MT"/>
              </a:rPr>
              <a:t>Recommendations</a:t>
            </a:r>
            <a:endParaRPr sz="1800">
              <a:latin typeface="Gill Sans MT"/>
              <a:cs typeface="Gill Sans MT"/>
            </a:endParaRPr>
          </a:p>
          <a:p>
            <a:pPr marL="12700" marR="213360" indent="126364">
              <a:lnSpc>
                <a:spcPct val="123500"/>
              </a:lnSpc>
              <a:spcBef>
                <a:spcPts val="835"/>
              </a:spcBef>
              <a:buSzPct val="96296"/>
              <a:buFont typeface="Microsoft Sans Serif"/>
              <a:buChar char="•"/>
              <a:tabLst>
                <a:tab pos="139065" algn="l"/>
              </a:tabLst>
            </a:pPr>
            <a:r>
              <a:rPr dirty="0" sz="1350" spc="-65" b="1">
                <a:solidFill>
                  <a:srgbClr val="4A6583"/>
                </a:solidFill>
                <a:latin typeface="Arial"/>
                <a:cs typeface="Arial"/>
              </a:rPr>
              <a:t>Direct</a:t>
            </a:r>
            <a:r>
              <a:rPr dirty="0" sz="1350" spc="-7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50" spc="-85" b="1">
                <a:solidFill>
                  <a:srgbClr val="4A6583"/>
                </a:solidFill>
                <a:latin typeface="Arial"/>
                <a:cs typeface="Arial"/>
              </a:rPr>
              <a:t>Compression</a:t>
            </a:r>
            <a:r>
              <a:rPr dirty="0" sz="1300" spc="-85" b="1">
                <a:solidFill>
                  <a:srgbClr val="4A6583"/>
                </a:solidFill>
                <a:latin typeface="Arial"/>
                <a:cs typeface="Arial"/>
              </a:rPr>
              <a:t>:</a:t>
            </a:r>
            <a:r>
              <a:rPr dirty="0" sz="1300" spc="-2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Rebalancing</a:t>
            </a:r>
            <a:r>
              <a:rPr dirty="0" sz="1300" spc="-4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regular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positions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to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direct variants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drops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Expense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35">
                <a:solidFill>
                  <a:srgbClr val="4A6583"/>
                </a:solidFill>
                <a:latin typeface="Microsoft Sans Serif"/>
                <a:cs typeface="Microsoft Sans Serif"/>
              </a:rPr>
              <a:t>Ratios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by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~0.5%.</a:t>
            </a:r>
            <a:endParaRPr sz="1300">
              <a:latin typeface="Microsoft Sans Serif"/>
              <a:cs typeface="Microsoft Sans Serif"/>
            </a:endParaRPr>
          </a:p>
          <a:p>
            <a:pPr marL="12700" marR="5080" indent="126364">
              <a:lnSpc>
                <a:spcPct val="123500"/>
              </a:lnSpc>
              <a:spcBef>
                <a:spcPts val="785"/>
              </a:spcBef>
              <a:buSzPct val="96296"/>
              <a:buFont typeface="Microsoft Sans Serif"/>
              <a:buChar char="•"/>
              <a:tabLst>
                <a:tab pos="139065" algn="l"/>
              </a:tabLst>
            </a:pPr>
            <a:r>
              <a:rPr dirty="0" sz="1350" spc="-60" b="1">
                <a:solidFill>
                  <a:srgbClr val="4A6583"/>
                </a:solidFill>
                <a:latin typeface="Arial"/>
                <a:cs typeface="Arial"/>
              </a:rPr>
              <a:t>Small</a:t>
            </a:r>
            <a:r>
              <a:rPr dirty="0" sz="1300" spc="-60" b="1">
                <a:solidFill>
                  <a:srgbClr val="4A6583"/>
                </a:solidFill>
                <a:latin typeface="Arial"/>
                <a:cs typeface="Arial"/>
              </a:rPr>
              <a:t>-</a:t>
            </a:r>
            <a:r>
              <a:rPr dirty="0" sz="1350" spc="-80" b="1">
                <a:solidFill>
                  <a:srgbClr val="4A6583"/>
                </a:solidFill>
                <a:latin typeface="Arial"/>
                <a:cs typeface="Arial"/>
              </a:rPr>
              <a:t>Cap</a:t>
            </a:r>
            <a:r>
              <a:rPr dirty="0" sz="1350" spc="-75" b="1">
                <a:solidFill>
                  <a:srgbClr val="4A6583"/>
                </a:solidFill>
                <a:latin typeface="Arial"/>
                <a:cs typeface="Arial"/>
              </a:rPr>
              <a:t> Horizons</a:t>
            </a:r>
            <a:r>
              <a:rPr dirty="0" sz="1300" spc="-75" b="1">
                <a:solidFill>
                  <a:srgbClr val="4A6583"/>
                </a:solidFill>
                <a:latin typeface="Arial"/>
                <a:cs typeface="Arial"/>
              </a:rPr>
              <a:t>:</a:t>
            </a:r>
            <a:r>
              <a:rPr dirty="0" sz="1300" spc="-2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High</a:t>
            </a:r>
            <a:r>
              <a:rPr dirty="0" sz="13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tracking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variance</a:t>
            </a:r>
            <a:r>
              <a:rPr dirty="0" sz="130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demands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fixed</a:t>
            </a:r>
            <a:r>
              <a:rPr dirty="0" sz="130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5+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year</a:t>
            </a:r>
            <a:r>
              <a:rPr dirty="0" sz="1300" spc="-4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minimum</a:t>
            </a:r>
            <a:r>
              <a:rPr dirty="0" sz="1300" spc="-4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capital</a:t>
            </a:r>
            <a:r>
              <a:rPr dirty="0" sz="1300" spc="-4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terms.</a:t>
            </a:r>
            <a:endParaRPr sz="1300">
              <a:latin typeface="Microsoft Sans Serif"/>
              <a:cs typeface="Microsoft Sans Serif"/>
            </a:endParaRPr>
          </a:p>
          <a:p>
            <a:pPr marL="12700" marR="407034" indent="126364">
              <a:lnSpc>
                <a:spcPct val="118800"/>
              </a:lnSpc>
              <a:spcBef>
                <a:spcPts val="935"/>
              </a:spcBef>
              <a:buSzPct val="96296"/>
              <a:buFont typeface="Microsoft Sans Serif"/>
              <a:buChar char="•"/>
              <a:tabLst>
                <a:tab pos="139065" algn="l"/>
              </a:tabLst>
            </a:pPr>
            <a:r>
              <a:rPr dirty="0" sz="1350" spc="-110" b="1">
                <a:solidFill>
                  <a:srgbClr val="4A6583"/>
                </a:solidFill>
                <a:latin typeface="Arial"/>
                <a:cs typeface="Arial"/>
              </a:rPr>
              <a:t>SIP</a:t>
            </a:r>
            <a:r>
              <a:rPr dirty="0" sz="1350" spc="-75" b="1">
                <a:solidFill>
                  <a:srgbClr val="4A6583"/>
                </a:solidFill>
                <a:latin typeface="Arial"/>
                <a:cs typeface="Arial"/>
              </a:rPr>
              <a:t> Friction</a:t>
            </a:r>
            <a:r>
              <a:rPr dirty="0" sz="1300" spc="-75" b="1">
                <a:solidFill>
                  <a:srgbClr val="4A6583"/>
                </a:solidFill>
                <a:latin typeface="Arial"/>
                <a:cs typeface="Arial"/>
              </a:rPr>
              <a:t>:</a:t>
            </a:r>
            <a:r>
              <a:rPr dirty="0" sz="1300" spc="-2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1300" spc="-5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disruptions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over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35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days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directly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indicate</a:t>
            </a:r>
            <a:r>
              <a:rPr dirty="0" sz="13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investor</a:t>
            </a:r>
            <a:r>
              <a:rPr dirty="0" sz="13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dropout</a:t>
            </a:r>
            <a:r>
              <a:rPr dirty="0" sz="13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risks.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238875" y="2457450"/>
            <a:ext cx="5381625" cy="2809875"/>
            <a:chOff x="6238875" y="2457450"/>
            <a:chExt cx="5381625" cy="2809875"/>
          </a:xfrm>
        </p:grpSpPr>
        <p:sp>
          <p:nvSpPr>
            <p:cNvPr id="9" name="object 9" descr=""/>
            <p:cNvSpPr/>
            <p:nvPr/>
          </p:nvSpPr>
          <p:spPr>
            <a:xfrm>
              <a:off x="6243637" y="2462212"/>
              <a:ext cx="5372100" cy="2800350"/>
            </a:xfrm>
            <a:custGeom>
              <a:avLst/>
              <a:gdLst/>
              <a:ahLst/>
              <a:cxnLst/>
              <a:rect l="l" t="t" r="r" b="b"/>
              <a:pathLst>
                <a:path w="5372100" h="2800350">
                  <a:moveTo>
                    <a:pt x="5224462" y="2800350"/>
                  </a:moveTo>
                  <a:lnTo>
                    <a:pt x="147637" y="2800350"/>
                  </a:lnTo>
                  <a:lnTo>
                    <a:pt x="140383" y="2800171"/>
                  </a:lnTo>
                  <a:lnTo>
                    <a:pt x="97907" y="2791719"/>
                  </a:lnTo>
                  <a:lnTo>
                    <a:pt x="59682" y="2771291"/>
                  </a:lnTo>
                  <a:lnTo>
                    <a:pt x="29058" y="2740671"/>
                  </a:lnTo>
                  <a:lnTo>
                    <a:pt x="8624" y="2702427"/>
                  </a:lnTo>
                  <a:lnTo>
                    <a:pt x="176" y="2659979"/>
                  </a:lnTo>
                  <a:lnTo>
                    <a:pt x="0" y="2652712"/>
                  </a:lnTo>
                  <a:lnTo>
                    <a:pt x="0" y="147637"/>
                  </a:lnTo>
                  <a:lnTo>
                    <a:pt x="6353" y="104798"/>
                  </a:lnTo>
                  <a:lnTo>
                    <a:pt x="24879" y="65627"/>
                  </a:lnTo>
                  <a:lnTo>
                    <a:pt x="53976" y="33516"/>
                  </a:lnTo>
                  <a:lnTo>
                    <a:pt x="91135" y="11239"/>
                  </a:lnTo>
                  <a:lnTo>
                    <a:pt x="133164" y="714"/>
                  </a:lnTo>
                  <a:lnTo>
                    <a:pt x="147637" y="0"/>
                  </a:lnTo>
                  <a:lnTo>
                    <a:pt x="5224462" y="0"/>
                  </a:lnTo>
                  <a:lnTo>
                    <a:pt x="5267301" y="6369"/>
                  </a:lnTo>
                  <a:lnTo>
                    <a:pt x="5306472" y="24860"/>
                  </a:lnTo>
                  <a:lnTo>
                    <a:pt x="5338583" y="53971"/>
                  </a:lnTo>
                  <a:lnTo>
                    <a:pt x="5360860" y="91154"/>
                  </a:lnTo>
                  <a:lnTo>
                    <a:pt x="5371385" y="133147"/>
                  </a:lnTo>
                  <a:lnTo>
                    <a:pt x="5372100" y="147637"/>
                  </a:lnTo>
                  <a:lnTo>
                    <a:pt x="5372100" y="2652712"/>
                  </a:lnTo>
                  <a:lnTo>
                    <a:pt x="5365730" y="2695551"/>
                  </a:lnTo>
                  <a:lnTo>
                    <a:pt x="5347239" y="2734722"/>
                  </a:lnTo>
                  <a:lnTo>
                    <a:pt x="5318128" y="2766833"/>
                  </a:lnTo>
                  <a:lnTo>
                    <a:pt x="5280945" y="2789110"/>
                  </a:lnTo>
                  <a:lnTo>
                    <a:pt x="5238952" y="2799635"/>
                  </a:lnTo>
                  <a:lnTo>
                    <a:pt x="5224462" y="280035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43637" y="2462212"/>
              <a:ext cx="5372100" cy="2800350"/>
            </a:xfrm>
            <a:custGeom>
              <a:avLst/>
              <a:gdLst/>
              <a:ahLst/>
              <a:cxnLst/>
              <a:rect l="l" t="t" r="r" b="b"/>
              <a:pathLst>
                <a:path w="5372100" h="2800350">
                  <a:moveTo>
                    <a:pt x="0" y="2652712"/>
                  </a:moveTo>
                  <a:lnTo>
                    <a:pt x="0" y="147637"/>
                  </a:lnTo>
                  <a:lnTo>
                    <a:pt x="176" y="140370"/>
                  </a:lnTo>
                  <a:lnTo>
                    <a:pt x="8624" y="97922"/>
                  </a:lnTo>
                  <a:lnTo>
                    <a:pt x="29058" y="59678"/>
                  </a:lnTo>
                  <a:lnTo>
                    <a:pt x="59682" y="29058"/>
                  </a:lnTo>
                  <a:lnTo>
                    <a:pt x="97907" y="8630"/>
                  </a:lnTo>
                  <a:lnTo>
                    <a:pt x="140383" y="178"/>
                  </a:lnTo>
                  <a:lnTo>
                    <a:pt x="147637" y="0"/>
                  </a:lnTo>
                  <a:lnTo>
                    <a:pt x="5224462" y="0"/>
                  </a:lnTo>
                  <a:lnTo>
                    <a:pt x="5267301" y="6369"/>
                  </a:lnTo>
                  <a:lnTo>
                    <a:pt x="5306472" y="24860"/>
                  </a:lnTo>
                  <a:lnTo>
                    <a:pt x="5338583" y="53971"/>
                  </a:lnTo>
                  <a:lnTo>
                    <a:pt x="5360860" y="91154"/>
                  </a:lnTo>
                  <a:lnTo>
                    <a:pt x="5371385" y="133147"/>
                  </a:lnTo>
                  <a:lnTo>
                    <a:pt x="5372100" y="147637"/>
                  </a:lnTo>
                  <a:lnTo>
                    <a:pt x="5372100" y="2652712"/>
                  </a:lnTo>
                  <a:lnTo>
                    <a:pt x="5365730" y="2695551"/>
                  </a:lnTo>
                  <a:lnTo>
                    <a:pt x="5347239" y="2734722"/>
                  </a:lnTo>
                  <a:lnTo>
                    <a:pt x="5318128" y="2766833"/>
                  </a:lnTo>
                  <a:lnTo>
                    <a:pt x="5280945" y="2789110"/>
                  </a:lnTo>
                  <a:lnTo>
                    <a:pt x="5238952" y="2799635"/>
                  </a:lnTo>
                  <a:lnTo>
                    <a:pt x="5224462" y="2800350"/>
                  </a:lnTo>
                  <a:lnTo>
                    <a:pt x="147637" y="2800350"/>
                  </a:lnTo>
                  <a:lnTo>
                    <a:pt x="104780" y="2793980"/>
                  </a:lnTo>
                  <a:lnTo>
                    <a:pt x="65617" y="2775489"/>
                  </a:lnTo>
                  <a:lnTo>
                    <a:pt x="33511" y="2746378"/>
                  </a:lnTo>
                  <a:lnTo>
                    <a:pt x="11239" y="2709195"/>
                  </a:lnTo>
                  <a:lnTo>
                    <a:pt x="708" y="2667202"/>
                  </a:lnTo>
                  <a:lnTo>
                    <a:pt x="0" y="265271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0975" y="2774950"/>
              <a:ext cx="215900" cy="21590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6521450" y="2722087"/>
            <a:ext cx="4810125" cy="21062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>
              <a:lnSpc>
                <a:spcPct val="100000"/>
              </a:lnSpc>
              <a:spcBef>
                <a:spcPts val="90"/>
              </a:spcBef>
            </a:pPr>
            <a:r>
              <a:rPr dirty="0" sz="1800" spc="-135" b="1">
                <a:solidFill>
                  <a:srgbClr val="093C61"/>
                </a:solidFill>
                <a:latin typeface="Gill Sans MT"/>
                <a:cs typeface="Gill Sans MT"/>
              </a:rPr>
              <a:t>Future</a:t>
            </a:r>
            <a:r>
              <a:rPr dirty="0" sz="1800" spc="-155" b="1">
                <a:solidFill>
                  <a:srgbClr val="093C61"/>
                </a:solidFill>
                <a:latin typeface="Gill Sans MT"/>
                <a:cs typeface="Gill Sans MT"/>
              </a:rPr>
              <a:t> </a:t>
            </a:r>
            <a:r>
              <a:rPr dirty="0" sz="1800" spc="-130" b="1">
                <a:solidFill>
                  <a:srgbClr val="093C61"/>
                </a:solidFill>
                <a:latin typeface="Gill Sans MT"/>
                <a:cs typeface="Gill Sans MT"/>
              </a:rPr>
              <a:t>Growth</a:t>
            </a:r>
            <a:r>
              <a:rPr dirty="0" sz="1800" spc="-150" b="1">
                <a:solidFill>
                  <a:srgbClr val="093C61"/>
                </a:solidFill>
                <a:latin typeface="Gill Sans MT"/>
                <a:cs typeface="Gill Sans MT"/>
              </a:rPr>
              <a:t> </a:t>
            </a:r>
            <a:r>
              <a:rPr dirty="0" sz="1800" spc="-10" b="1">
                <a:solidFill>
                  <a:srgbClr val="093C61"/>
                </a:solidFill>
                <a:latin typeface="Gill Sans MT"/>
                <a:cs typeface="Gill Sans MT"/>
              </a:rPr>
              <a:t>Paths</a:t>
            </a:r>
            <a:endParaRPr sz="1800">
              <a:latin typeface="Gill Sans MT"/>
              <a:cs typeface="Gill Sans MT"/>
            </a:endParaRPr>
          </a:p>
          <a:p>
            <a:pPr marL="12700" marR="5080" indent="126364">
              <a:lnSpc>
                <a:spcPct val="123500"/>
              </a:lnSpc>
              <a:spcBef>
                <a:spcPts val="835"/>
              </a:spcBef>
              <a:buSzPct val="96296"/>
              <a:buFont typeface="Microsoft Sans Serif"/>
              <a:buChar char="•"/>
              <a:tabLst>
                <a:tab pos="139065" algn="l"/>
              </a:tabLst>
            </a:pPr>
            <a:r>
              <a:rPr dirty="0" sz="1350" spc="-20" b="1">
                <a:solidFill>
                  <a:srgbClr val="4A6583"/>
                </a:solidFill>
                <a:latin typeface="Arial"/>
                <a:cs typeface="Arial"/>
              </a:rPr>
              <a:t>B</a:t>
            </a:r>
            <a:r>
              <a:rPr dirty="0" sz="1300" spc="-20" b="1">
                <a:solidFill>
                  <a:srgbClr val="4A6583"/>
                </a:solidFill>
                <a:latin typeface="Arial"/>
                <a:cs typeface="Arial"/>
              </a:rPr>
              <a:t>30</a:t>
            </a:r>
            <a:r>
              <a:rPr dirty="0" sz="1300" spc="-7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50" spc="-65" b="1">
                <a:solidFill>
                  <a:srgbClr val="4A6583"/>
                </a:solidFill>
                <a:latin typeface="Arial"/>
                <a:cs typeface="Arial"/>
              </a:rPr>
              <a:t>Inflow</a:t>
            </a:r>
            <a:r>
              <a:rPr dirty="0" sz="1350" spc="-75" b="1">
                <a:solidFill>
                  <a:srgbClr val="4A6583"/>
                </a:solidFill>
                <a:latin typeface="Arial"/>
                <a:cs typeface="Arial"/>
              </a:rPr>
              <a:t> Scaling</a:t>
            </a:r>
            <a:r>
              <a:rPr dirty="0" sz="1300" spc="-75" b="1">
                <a:solidFill>
                  <a:srgbClr val="4A6583"/>
                </a:solidFill>
                <a:latin typeface="Arial"/>
                <a:cs typeface="Arial"/>
              </a:rPr>
              <a:t>:</a:t>
            </a:r>
            <a:r>
              <a:rPr dirty="0" sz="1300" spc="-2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Creating</a:t>
            </a:r>
            <a:r>
              <a:rPr dirty="0" sz="1300" spc="-7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simpler</a:t>
            </a:r>
            <a:r>
              <a:rPr dirty="0" sz="13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customized</a:t>
            </a:r>
            <a:r>
              <a:rPr dirty="0" sz="1300" spc="-3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touchpoints</a:t>
            </a:r>
            <a:r>
              <a:rPr dirty="0" sz="13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for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upcoming</a:t>
            </a:r>
            <a:r>
              <a:rPr dirty="0" sz="1300" spc="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lower-tier</a:t>
            </a:r>
            <a:r>
              <a:rPr dirty="0" sz="1300" spc="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towns.</a:t>
            </a:r>
            <a:endParaRPr sz="1300">
              <a:latin typeface="Microsoft Sans Serif"/>
              <a:cs typeface="Microsoft Sans Serif"/>
            </a:endParaRPr>
          </a:p>
          <a:p>
            <a:pPr marL="12700" marR="163195" indent="126364">
              <a:lnSpc>
                <a:spcPct val="123500"/>
              </a:lnSpc>
              <a:spcBef>
                <a:spcPts val="785"/>
              </a:spcBef>
              <a:buSzPct val="96296"/>
              <a:buFont typeface="Microsoft Sans Serif"/>
              <a:buChar char="•"/>
              <a:tabLst>
                <a:tab pos="139065" algn="l"/>
              </a:tabLst>
            </a:pPr>
            <a:r>
              <a:rPr dirty="0" sz="1350" spc="-80" b="1">
                <a:solidFill>
                  <a:srgbClr val="4A6583"/>
                </a:solidFill>
                <a:latin typeface="Arial"/>
                <a:cs typeface="Arial"/>
              </a:rPr>
              <a:t>Streaming</a:t>
            </a:r>
            <a:r>
              <a:rPr dirty="0" sz="1350" spc="-7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4A6583"/>
                </a:solidFill>
                <a:latin typeface="Arial"/>
                <a:cs typeface="Arial"/>
              </a:rPr>
              <a:t>Automation</a:t>
            </a:r>
            <a:r>
              <a:rPr dirty="0" sz="1300" spc="-80" b="1">
                <a:solidFill>
                  <a:srgbClr val="4A6583"/>
                </a:solidFill>
                <a:latin typeface="Arial"/>
                <a:cs typeface="Arial"/>
              </a:rPr>
              <a:t>:</a:t>
            </a:r>
            <a:r>
              <a:rPr dirty="0" sz="1300" spc="-2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Upgrading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raw</a:t>
            </a:r>
            <a:r>
              <a:rPr dirty="0" sz="130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manual</a:t>
            </a:r>
            <a:r>
              <a:rPr dirty="0" sz="130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datasets</a:t>
            </a:r>
            <a:r>
              <a:rPr dirty="0" sz="1300" spc="-1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to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4A6583"/>
                </a:solidFill>
                <a:latin typeface="Microsoft Sans Serif"/>
                <a:cs typeface="Microsoft Sans Serif"/>
              </a:rPr>
              <a:t>live </a:t>
            </a:r>
            <a:r>
              <a:rPr dirty="0" sz="1300" spc="-45">
                <a:solidFill>
                  <a:srgbClr val="4A6583"/>
                </a:solidFill>
                <a:latin typeface="Microsoft Sans Serif"/>
                <a:cs typeface="Microsoft Sans Serif"/>
              </a:rPr>
              <a:t>AMFI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programmatic</a:t>
            </a:r>
            <a:r>
              <a:rPr dirty="0" sz="1300" spc="-5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connections.</a:t>
            </a:r>
            <a:endParaRPr sz="1300">
              <a:latin typeface="Microsoft Sans Serif"/>
              <a:cs typeface="Microsoft Sans Serif"/>
            </a:endParaRPr>
          </a:p>
          <a:p>
            <a:pPr marL="12700" marR="317500" indent="126364">
              <a:lnSpc>
                <a:spcPct val="118800"/>
              </a:lnSpc>
              <a:spcBef>
                <a:spcPts val="935"/>
              </a:spcBef>
              <a:buSzPct val="96296"/>
              <a:buFont typeface="Microsoft Sans Serif"/>
              <a:buChar char="•"/>
              <a:tabLst>
                <a:tab pos="139065" algn="l"/>
              </a:tabLst>
            </a:pPr>
            <a:r>
              <a:rPr dirty="0" sz="1350" spc="-70" b="1">
                <a:solidFill>
                  <a:srgbClr val="4A6583"/>
                </a:solidFill>
                <a:latin typeface="Arial"/>
                <a:cs typeface="Arial"/>
              </a:rPr>
              <a:t>Predictive</a:t>
            </a:r>
            <a:r>
              <a:rPr dirty="0" sz="1350" spc="-7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4A6583"/>
                </a:solidFill>
                <a:latin typeface="Arial"/>
                <a:cs typeface="Arial"/>
              </a:rPr>
              <a:t>Churn</a:t>
            </a:r>
            <a:r>
              <a:rPr dirty="0" sz="1350" spc="-7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50" spc="-95" b="1">
                <a:solidFill>
                  <a:srgbClr val="4A6583"/>
                </a:solidFill>
                <a:latin typeface="Arial"/>
                <a:cs typeface="Arial"/>
              </a:rPr>
              <a:t>Engine</a:t>
            </a:r>
            <a:r>
              <a:rPr dirty="0" sz="1300" spc="-95" b="1">
                <a:solidFill>
                  <a:srgbClr val="4A6583"/>
                </a:solidFill>
                <a:latin typeface="Arial"/>
                <a:cs typeface="Arial"/>
              </a:rPr>
              <a:t>:</a:t>
            </a:r>
            <a:r>
              <a:rPr dirty="0" sz="1300" spc="-20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Integrating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ML</a:t>
            </a:r>
            <a:r>
              <a:rPr dirty="0" sz="13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logic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 parameters</a:t>
            </a:r>
            <a:r>
              <a:rPr dirty="0" sz="1300" spc="-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">
                <a:solidFill>
                  <a:srgbClr val="4A6583"/>
                </a:solidFill>
                <a:latin typeface="Microsoft Sans Serif"/>
                <a:cs typeface="Microsoft Sans Serif"/>
              </a:rPr>
              <a:t>to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secure</a:t>
            </a:r>
            <a:r>
              <a:rPr dirty="0" sz="13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user</a:t>
            </a:r>
            <a:r>
              <a:rPr dirty="0" sz="1300" spc="-4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A6583"/>
                </a:solidFill>
                <a:latin typeface="Microsoft Sans Serif"/>
                <a:cs typeface="Microsoft Sans Serif"/>
              </a:rPr>
              <a:t>platform</a:t>
            </a:r>
            <a:r>
              <a:rPr dirty="0" sz="1300" spc="-4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A6583"/>
                </a:solidFill>
                <a:latin typeface="Microsoft Sans Serif"/>
                <a:cs typeface="Microsoft Sans Serif"/>
              </a:rPr>
              <a:t>retention.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5380" y="1135243"/>
            <a:ext cx="3461385" cy="1819910"/>
          </a:xfrm>
          <a:prstGeom prst="rect"/>
        </p:spPr>
        <p:txBody>
          <a:bodyPr wrap="square" lIns="0" tIns="398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35"/>
              </a:spcBef>
            </a:pPr>
            <a:r>
              <a:rPr dirty="0" sz="6150" spc="-320"/>
              <a:t>Thank</a:t>
            </a:r>
            <a:r>
              <a:rPr dirty="0" sz="6150" spc="-780"/>
              <a:t> </a:t>
            </a:r>
            <a:r>
              <a:rPr dirty="0" sz="6150" spc="-1335"/>
              <a:t>Y</a:t>
            </a:r>
            <a:r>
              <a:rPr dirty="0" sz="6150" spc="-480"/>
              <a:t>ou</a:t>
            </a:r>
            <a:endParaRPr sz="6150"/>
          </a:p>
          <a:p>
            <a:pPr algn="ctr" marR="1270">
              <a:lnSpc>
                <a:spcPct val="100000"/>
              </a:lnSpc>
              <a:spcBef>
                <a:spcPts val="1070"/>
              </a:spcBef>
            </a:pPr>
            <a:r>
              <a:rPr dirty="0" sz="2200" spc="-55">
                <a:solidFill>
                  <a:srgbClr val="37AFEC"/>
                </a:solidFill>
              </a:rPr>
              <a:t>Questions</a:t>
            </a:r>
            <a:r>
              <a:rPr dirty="0" sz="2200" spc="-90">
                <a:solidFill>
                  <a:srgbClr val="37AFEC"/>
                </a:solidFill>
              </a:rPr>
              <a:t> </a:t>
            </a:r>
            <a:r>
              <a:rPr dirty="0" sz="2100" spc="-90">
                <a:solidFill>
                  <a:srgbClr val="37AFEC"/>
                </a:solidFill>
                <a:latin typeface="Comic Sans MS"/>
                <a:cs typeface="Comic Sans MS"/>
              </a:rPr>
              <a:t>&amp;</a:t>
            </a:r>
            <a:r>
              <a:rPr dirty="0" sz="2100" spc="-270">
                <a:solidFill>
                  <a:srgbClr val="37AFEC"/>
                </a:solidFill>
                <a:latin typeface="Comic Sans MS"/>
                <a:cs typeface="Comic Sans MS"/>
              </a:rPr>
              <a:t> </a:t>
            </a:r>
            <a:r>
              <a:rPr dirty="0" sz="2200" spc="-10">
                <a:solidFill>
                  <a:srgbClr val="37AFEC"/>
                </a:solidFill>
              </a:rPr>
              <a:t>Discussion</a:t>
            </a:r>
            <a:endParaRPr sz="2200">
              <a:latin typeface="Comic Sans MS"/>
              <a:cs typeface="Comic Sans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667125" y="3429000"/>
            <a:ext cx="4857750" cy="1209675"/>
            <a:chOff x="3667125" y="3429000"/>
            <a:chExt cx="4857750" cy="1209675"/>
          </a:xfrm>
        </p:grpSpPr>
        <p:sp>
          <p:nvSpPr>
            <p:cNvPr id="4" name="object 4" descr=""/>
            <p:cNvSpPr/>
            <p:nvPr/>
          </p:nvSpPr>
          <p:spPr>
            <a:xfrm>
              <a:off x="3671887" y="3433762"/>
              <a:ext cx="4848225" cy="1200150"/>
            </a:xfrm>
            <a:custGeom>
              <a:avLst/>
              <a:gdLst/>
              <a:ahLst/>
              <a:cxnLst/>
              <a:rect l="l" t="t" r="r" b="b"/>
              <a:pathLst>
                <a:path w="4848225" h="1200150">
                  <a:moveTo>
                    <a:pt x="4745878" y="1200150"/>
                  </a:moveTo>
                  <a:lnTo>
                    <a:pt x="102346" y="1200150"/>
                  </a:lnTo>
                  <a:lnTo>
                    <a:pt x="95221" y="1199388"/>
                  </a:lnTo>
                  <a:lnTo>
                    <a:pt x="54663" y="1185671"/>
                  </a:lnTo>
                  <a:lnTo>
                    <a:pt x="22459" y="1157478"/>
                  </a:lnTo>
                  <a:lnTo>
                    <a:pt x="3505" y="1118996"/>
                  </a:lnTo>
                  <a:lnTo>
                    <a:pt x="0" y="1097756"/>
                  </a:lnTo>
                  <a:lnTo>
                    <a:pt x="0" y="1090612"/>
                  </a:lnTo>
                  <a:lnTo>
                    <a:pt x="0" y="102298"/>
                  </a:lnTo>
                  <a:lnTo>
                    <a:pt x="11087" y="60959"/>
                  </a:lnTo>
                  <a:lnTo>
                    <a:pt x="37166" y="26955"/>
                  </a:lnTo>
                  <a:lnTo>
                    <a:pt x="74266" y="5524"/>
                  </a:lnTo>
                  <a:lnTo>
                    <a:pt x="102346" y="0"/>
                  </a:lnTo>
                  <a:lnTo>
                    <a:pt x="4745878" y="0"/>
                  </a:lnTo>
                  <a:lnTo>
                    <a:pt x="4787245" y="11048"/>
                  </a:lnTo>
                  <a:lnTo>
                    <a:pt x="4821231" y="37147"/>
                  </a:lnTo>
                  <a:lnTo>
                    <a:pt x="4842643" y="74199"/>
                  </a:lnTo>
                  <a:lnTo>
                    <a:pt x="4848225" y="102298"/>
                  </a:lnTo>
                  <a:lnTo>
                    <a:pt x="4848225" y="1097756"/>
                  </a:lnTo>
                  <a:lnTo>
                    <a:pt x="4837137" y="1139190"/>
                  </a:lnTo>
                  <a:lnTo>
                    <a:pt x="4811058" y="1173098"/>
                  </a:lnTo>
                  <a:lnTo>
                    <a:pt x="4773958" y="1194530"/>
                  </a:lnTo>
                  <a:lnTo>
                    <a:pt x="4753003" y="1199388"/>
                  </a:lnTo>
                  <a:lnTo>
                    <a:pt x="4745878" y="120015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671887" y="3433762"/>
              <a:ext cx="4848225" cy="1200150"/>
            </a:xfrm>
            <a:custGeom>
              <a:avLst/>
              <a:gdLst/>
              <a:ahLst/>
              <a:cxnLst/>
              <a:rect l="l" t="t" r="r" b="b"/>
              <a:pathLst>
                <a:path w="4848225" h="1200150">
                  <a:moveTo>
                    <a:pt x="0" y="1090612"/>
                  </a:moveTo>
                  <a:lnTo>
                    <a:pt x="0" y="109537"/>
                  </a:lnTo>
                  <a:lnTo>
                    <a:pt x="0" y="102298"/>
                  </a:lnTo>
                  <a:lnTo>
                    <a:pt x="704" y="95250"/>
                  </a:lnTo>
                  <a:lnTo>
                    <a:pt x="2105" y="88201"/>
                  </a:lnTo>
                  <a:lnTo>
                    <a:pt x="3505" y="81057"/>
                  </a:lnTo>
                  <a:lnTo>
                    <a:pt x="5581" y="74199"/>
                  </a:lnTo>
                  <a:lnTo>
                    <a:pt x="8334" y="67627"/>
                  </a:lnTo>
                  <a:lnTo>
                    <a:pt x="11087" y="60959"/>
                  </a:lnTo>
                  <a:lnTo>
                    <a:pt x="14468" y="54673"/>
                  </a:lnTo>
                  <a:lnTo>
                    <a:pt x="18459" y="48672"/>
                  </a:lnTo>
                  <a:lnTo>
                    <a:pt x="22459" y="42671"/>
                  </a:lnTo>
                  <a:lnTo>
                    <a:pt x="26993" y="37147"/>
                  </a:lnTo>
                  <a:lnTo>
                    <a:pt x="32080" y="32099"/>
                  </a:lnTo>
                  <a:lnTo>
                    <a:pt x="37166" y="26955"/>
                  </a:lnTo>
                  <a:lnTo>
                    <a:pt x="67617" y="8286"/>
                  </a:lnTo>
                  <a:lnTo>
                    <a:pt x="74266" y="5524"/>
                  </a:lnTo>
                  <a:lnTo>
                    <a:pt x="81114" y="3524"/>
                  </a:lnTo>
                  <a:lnTo>
                    <a:pt x="88163" y="2095"/>
                  </a:lnTo>
                  <a:lnTo>
                    <a:pt x="95221" y="666"/>
                  </a:lnTo>
                  <a:lnTo>
                    <a:pt x="102346" y="0"/>
                  </a:lnTo>
                  <a:lnTo>
                    <a:pt x="109537" y="0"/>
                  </a:lnTo>
                  <a:lnTo>
                    <a:pt x="4738687" y="0"/>
                  </a:lnTo>
                  <a:lnTo>
                    <a:pt x="4745878" y="0"/>
                  </a:lnTo>
                  <a:lnTo>
                    <a:pt x="4753003" y="666"/>
                  </a:lnTo>
                  <a:lnTo>
                    <a:pt x="4760052" y="2095"/>
                  </a:lnTo>
                  <a:lnTo>
                    <a:pt x="4767110" y="3524"/>
                  </a:lnTo>
                  <a:lnTo>
                    <a:pt x="4805524" y="22479"/>
                  </a:lnTo>
                  <a:lnTo>
                    <a:pt x="4816144" y="32099"/>
                  </a:lnTo>
                  <a:lnTo>
                    <a:pt x="4821231" y="37147"/>
                  </a:lnTo>
                  <a:lnTo>
                    <a:pt x="4839890" y="67627"/>
                  </a:lnTo>
                  <a:lnTo>
                    <a:pt x="4842643" y="74199"/>
                  </a:lnTo>
                  <a:lnTo>
                    <a:pt x="4844719" y="81057"/>
                  </a:lnTo>
                  <a:lnTo>
                    <a:pt x="4846119" y="88201"/>
                  </a:lnTo>
                  <a:lnTo>
                    <a:pt x="4847520" y="95250"/>
                  </a:lnTo>
                  <a:lnTo>
                    <a:pt x="4848225" y="102298"/>
                  </a:lnTo>
                  <a:lnTo>
                    <a:pt x="4848225" y="109537"/>
                  </a:lnTo>
                  <a:lnTo>
                    <a:pt x="4848225" y="1090612"/>
                  </a:lnTo>
                  <a:lnTo>
                    <a:pt x="4848225" y="1097756"/>
                  </a:lnTo>
                  <a:lnTo>
                    <a:pt x="4847520" y="1104900"/>
                  </a:lnTo>
                  <a:lnTo>
                    <a:pt x="4846119" y="1111948"/>
                  </a:lnTo>
                  <a:lnTo>
                    <a:pt x="4844719" y="1118996"/>
                  </a:lnTo>
                  <a:lnTo>
                    <a:pt x="4842643" y="1125855"/>
                  </a:lnTo>
                  <a:lnTo>
                    <a:pt x="4839890" y="1132522"/>
                  </a:lnTo>
                  <a:lnTo>
                    <a:pt x="4837137" y="1139190"/>
                  </a:lnTo>
                  <a:lnTo>
                    <a:pt x="4816144" y="1168050"/>
                  </a:lnTo>
                  <a:lnTo>
                    <a:pt x="4811058" y="1173098"/>
                  </a:lnTo>
                  <a:lnTo>
                    <a:pt x="4773958" y="1194530"/>
                  </a:lnTo>
                  <a:lnTo>
                    <a:pt x="4745878" y="1200150"/>
                  </a:lnTo>
                  <a:lnTo>
                    <a:pt x="4738687" y="1200150"/>
                  </a:lnTo>
                  <a:lnTo>
                    <a:pt x="109537" y="1200150"/>
                  </a:lnTo>
                  <a:lnTo>
                    <a:pt x="102346" y="1200150"/>
                  </a:lnTo>
                  <a:lnTo>
                    <a:pt x="95221" y="1199388"/>
                  </a:lnTo>
                  <a:lnTo>
                    <a:pt x="54663" y="1185671"/>
                  </a:lnTo>
                  <a:lnTo>
                    <a:pt x="32080" y="1168050"/>
                  </a:lnTo>
                  <a:lnTo>
                    <a:pt x="26993" y="1163002"/>
                  </a:lnTo>
                  <a:lnTo>
                    <a:pt x="8334" y="1132522"/>
                  </a:lnTo>
                  <a:lnTo>
                    <a:pt x="5581" y="1125855"/>
                  </a:lnTo>
                  <a:lnTo>
                    <a:pt x="3505" y="1118996"/>
                  </a:lnTo>
                  <a:lnTo>
                    <a:pt x="2105" y="1111948"/>
                  </a:lnTo>
                  <a:lnTo>
                    <a:pt x="704" y="1104900"/>
                  </a:lnTo>
                  <a:lnTo>
                    <a:pt x="0" y="1097756"/>
                  </a:lnTo>
                  <a:lnTo>
                    <a:pt x="0" y="1090612"/>
                  </a:lnTo>
                  <a:close/>
                </a:path>
              </a:pathLst>
            </a:custGeom>
            <a:ln w="9525">
              <a:solidFill>
                <a:srgbClr val="DBDD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136780" y="3575295"/>
            <a:ext cx="3918585" cy="78486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dirty="0" sz="2100" spc="-100" b="1">
                <a:solidFill>
                  <a:srgbClr val="093C61"/>
                </a:solidFill>
                <a:latin typeface="Arial"/>
                <a:cs typeface="Arial"/>
              </a:rPr>
              <a:t>Ankush</a:t>
            </a:r>
            <a:r>
              <a:rPr dirty="0" sz="2100" spc="-50" b="1">
                <a:solidFill>
                  <a:srgbClr val="093C61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93C61"/>
                </a:solidFill>
                <a:latin typeface="Arial"/>
                <a:cs typeface="Arial"/>
              </a:rPr>
              <a:t>Kumar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1500" spc="-60">
                <a:solidFill>
                  <a:srgbClr val="4A6583"/>
                </a:solidFill>
                <a:latin typeface="Microsoft Sans Serif"/>
                <a:cs typeface="Microsoft Sans Serif"/>
              </a:rPr>
              <a:t>Data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Analyst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A6583"/>
                </a:solidFill>
                <a:latin typeface="Microsoft Sans Serif"/>
                <a:cs typeface="Microsoft Sans Serif"/>
              </a:rPr>
              <a:t>Intern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4A6583"/>
                </a:solidFill>
                <a:latin typeface="Lucida Sans"/>
                <a:cs typeface="Lucida Sans"/>
              </a:rPr>
              <a:t>|</a:t>
            </a:r>
            <a:r>
              <a:rPr dirty="0" sz="1600" spc="-135">
                <a:solidFill>
                  <a:srgbClr val="4A6583"/>
                </a:solidFill>
                <a:latin typeface="Lucida Sans"/>
                <a:cs typeface="Lucida Sans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Bluestock</a:t>
            </a:r>
            <a:r>
              <a:rPr dirty="0" sz="1500" spc="-30">
                <a:solidFill>
                  <a:srgbClr val="4A658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4A6583"/>
                </a:solidFill>
                <a:latin typeface="Microsoft Sans Serif"/>
                <a:cs typeface="Microsoft Sans Serif"/>
              </a:rPr>
              <a:t>Fintech </a:t>
            </a:r>
            <a:r>
              <a:rPr dirty="0" sz="1500" spc="-45">
                <a:solidFill>
                  <a:srgbClr val="4A6583"/>
                </a:solidFill>
                <a:latin typeface="Microsoft Sans Serif"/>
                <a:cs typeface="Microsoft Sans Serif"/>
              </a:rPr>
              <a:t>Pvt</a:t>
            </a:r>
            <a:r>
              <a:rPr dirty="0" sz="1600" spc="-45">
                <a:solidFill>
                  <a:srgbClr val="4A6583"/>
                </a:solidFill>
                <a:latin typeface="Lucida Sans"/>
                <a:cs typeface="Lucida Sans"/>
              </a:rPr>
              <a:t>.</a:t>
            </a:r>
            <a:r>
              <a:rPr dirty="0" sz="1600" spc="-155">
                <a:solidFill>
                  <a:srgbClr val="4A6583"/>
                </a:solidFill>
                <a:latin typeface="Lucida Sans"/>
                <a:cs typeface="Lucida Sans"/>
              </a:rPr>
              <a:t> </a:t>
            </a:r>
            <a:r>
              <a:rPr dirty="0" sz="1500" spc="-20">
                <a:solidFill>
                  <a:srgbClr val="4A6583"/>
                </a:solidFill>
                <a:latin typeface="Microsoft Sans Serif"/>
                <a:cs typeface="Microsoft Sans Serif"/>
              </a:rPr>
              <a:t>Ltd</a:t>
            </a:r>
            <a:r>
              <a:rPr dirty="0" sz="1600" spc="-20">
                <a:solidFill>
                  <a:srgbClr val="4A6583"/>
                </a:solidFill>
                <a:latin typeface="Lucida Sans"/>
                <a:cs typeface="Lucida Sans"/>
              </a:rPr>
              <a:t>.</a:t>
            </a:r>
            <a:endParaRPr sz="1600">
              <a:latin typeface="Lucida Sans"/>
              <a:cs typeface="Lucida San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29384" y="5082877"/>
            <a:ext cx="552386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b="1">
                <a:solidFill>
                  <a:srgbClr val="4A6583"/>
                </a:solidFill>
                <a:latin typeface="Arial"/>
                <a:cs typeface="Arial"/>
              </a:rPr>
              <a:t>ETL</a:t>
            </a:r>
            <a:r>
              <a:rPr dirty="0" sz="1050" spc="3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6583"/>
                </a:solidFill>
                <a:latin typeface="Arial"/>
                <a:cs typeface="Arial"/>
              </a:rPr>
              <a:t>PIPELINE</a:t>
            </a:r>
            <a:r>
              <a:rPr dirty="0" sz="1050" spc="4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A6583"/>
                </a:solidFill>
                <a:latin typeface="Bookman Old Style"/>
                <a:cs typeface="Bookman Old Style"/>
              </a:rPr>
              <a:t>·</a:t>
            </a:r>
            <a:r>
              <a:rPr dirty="0" sz="1100" spc="-40" b="1">
                <a:solidFill>
                  <a:srgbClr val="4A6583"/>
                </a:solidFill>
                <a:latin typeface="Bookman Old Style"/>
                <a:cs typeface="Bookman Old Style"/>
              </a:rPr>
              <a:t> </a:t>
            </a:r>
            <a:r>
              <a:rPr dirty="0" sz="1050" b="1">
                <a:solidFill>
                  <a:srgbClr val="4A6583"/>
                </a:solidFill>
                <a:latin typeface="Arial"/>
                <a:cs typeface="Arial"/>
              </a:rPr>
              <a:t>SQLITE</a:t>
            </a:r>
            <a:r>
              <a:rPr dirty="0" sz="1050" spc="50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6583"/>
                </a:solidFill>
                <a:latin typeface="Arial"/>
                <a:cs typeface="Arial"/>
              </a:rPr>
              <a:t>DB</a:t>
            </a:r>
            <a:r>
              <a:rPr dirty="0" sz="1050" spc="4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A6583"/>
                </a:solidFill>
                <a:latin typeface="Bookman Old Style"/>
                <a:cs typeface="Bookman Old Style"/>
              </a:rPr>
              <a:t>·</a:t>
            </a:r>
            <a:r>
              <a:rPr dirty="0" sz="1100" spc="-40" b="1">
                <a:solidFill>
                  <a:srgbClr val="4A6583"/>
                </a:solidFill>
                <a:latin typeface="Bookman Old Style"/>
                <a:cs typeface="Bookman Old Style"/>
              </a:rPr>
              <a:t> </a:t>
            </a:r>
            <a:r>
              <a:rPr dirty="0" sz="1050" b="1">
                <a:solidFill>
                  <a:srgbClr val="4A6583"/>
                </a:solidFill>
                <a:latin typeface="Arial"/>
                <a:cs typeface="Arial"/>
              </a:rPr>
              <a:t>POWER</a:t>
            </a:r>
            <a:r>
              <a:rPr dirty="0" sz="1050" spc="4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6583"/>
                </a:solidFill>
                <a:latin typeface="Arial"/>
                <a:cs typeface="Arial"/>
              </a:rPr>
              <a:t>BI</a:t>
            </a:r>
            <a:r>
              <a:rPr dirty="0" sz="1050" spc="50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4A6583"/>
                </a:solidFill>
                <a:latin typeface="Arial"/>
                <a:cs typeface="Arial"/>
              </a:rPr>
              <a:t>DASHBOARD</a:t>
            </a:r>
            <a:r>
              <a:rPr dirty="0" sz="1050" spc="45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A6583"/>
                </a:solidFill>
                <a:latin typeface="Bookman Old Style"/>
                <a:cs typeface="Bookman Old Style"/>
              </a:rPr>
              <a:t>·</a:t>
            </a:r>
            <a:r>
              <a:rPr dirty="0" sz="1100" spc="-40" b="1">
                <a:solidFill>
                  <a:srgbClr val="4A6583"/>
                </a:solidFill>
                <a:latin typeface="Bookman Old Style"/>
                <a:cs typeface="Bookman Old Style"/>
              </a:rPr>
              <a:t> </a:t>
            </a:r>
            <a:r>
              <a:rPr dirty="0" sz="1050" b="1">
                <a:solidFill>
                  <a:srgbClr val="4A6583"/>
                </a:solidFill>
                <a:latin typeface="Arial"/>
                <a:cs typeface="Arial"/>
              </a:rPr>
              <a:t>PERFORMANCE</a:t>
            </a:r>
            <a:r>
              <a:rPr dirty="0" sz="1050" spc="50" b="1">
                <a:solidFill>
                  <a:srgbClr val="4A6583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4A6583"/>
                </a:solidFill>
                <a:latin typeface="Arial"/>
                <a:cs typeface="Arial"/>
              </a:rPr>
              <a:t>ANALYTICS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 - Bluestock Fintech</dc:title>
  <dcterms:created xsi:type="dcterms:W3CDTF">2026-07-03T15:24:17Z</dcterms:created>
  <dcterms:modified xsi:type="dcterms:W3CDTF">2026-07-03T15:24:17Z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2026-07-03T00:00:00Z</vt:filetime>
  </property>
  <property fmtid="{D5CDD505-2E9C-101B-9397-08002B2CF9AE}" pid="3" name="Creator">
    <vt:lpwstr>Mozilla/5.0 (Windows NT 10.0; Win64; x64) AppleWebKit/537.36 (KHTML, like Gecko) Chrome/149.0.0.0 Safari/537.36 Edg/149.0.0.0</vt:lpwstr>
  </property>
  <property fmtid="{D5CDD505-2E9C-101B-9397-08002B2CF9AE}" pid="4" name="LastSaved">
    <vt:filetime>2026-07-03T00:00:00Z</vt:filetime>
  </property>
  <property fmtid="{D5CDD505-2E9C-101B-9397-08002B2CF9AE}" pid="5" name="Producer">
    <vt:lpwstr>3-Heights(TM) PDF Security Shell 4.8.25.2 (http://www.pdf-tools.com)</vt:lpwstr>
  </property>
</Properties>
</file>